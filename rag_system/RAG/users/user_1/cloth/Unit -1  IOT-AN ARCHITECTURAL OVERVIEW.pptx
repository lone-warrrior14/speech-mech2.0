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schemas.openxmlformats.org/officeDocument/2006/relationships/slide" Target="slides/slide56.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e0aeb1bf3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e0aeb1bf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e0aeb1bf3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e0aeb1bf3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e0aeb1bf3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e0aeb1bf3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e0aeb1bf3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e0aeb1bf3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e0aeb1bf3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e0aeb1bf3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e0aeb1bf3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e0aeb1bf3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e0aeb1bf3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e0aeb1bf3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e0aeb1bf3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e0aeb1bf3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ead3d7efc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ead3d7efc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ead3d7efc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ead3d7efc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ead3d7efc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ead3d7efc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ead3d7efc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ead3d7efc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ead3d7efc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ead3d7efc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e0aeb1bf3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e0aeb1bf3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e0aeb1bf32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e0aeb1bf32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e0aeb1bf32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e0aeb1bf32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e0aeb1bf32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e0aeb1bf32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e0aeb1bf32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e0aeb1bf32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e0aeb1bf32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e0aeb1bf32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e0aeb1bf32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e0aeb1bf32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e0aeb1bf32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e0aeb1bf32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e0aeb1bf32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e0aeb1bf32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e0aeb1bf32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e0aeb1bf32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e0aeb1bf32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e0aeb1bf32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e0aeb1bf32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e0aeb1bf32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e0aeb1bf32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e0aeb1bf3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e0aeb1bf32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e0aeb1bf32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e0aeb1bf32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e0aeb1bf32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e0aeb1bf32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e0aeb1bf32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e0aeb1bf32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e0aeb1bf32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ed6527614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ed6527614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e0aeb1bf32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e0aeb1bf32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e0aeb1bf32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e0aeb1bf32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e103079a0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e103079a0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e0aeb1bf32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e0aeb1bf32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ee12db11e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ee12db11e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e103079a0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e103079a0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e103079a0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e103079a0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6c262bf5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6c262bf5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6c262bf54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6c262bf54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e103079a0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e103079a0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e103079a0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e103079a0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e103079a0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e103079a0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ef575f7791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ef575f779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ef575f779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ef575f779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ef575f779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ef575f779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ef575f779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ef575f779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ef575f779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ef575f779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e103079a0c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e103079a0c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ef575f779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ef575f779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ef575f779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ef575f779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ef575f779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2ef575f779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ef575f779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ef575f779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77c0d784b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77c0d784b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e103079a0c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2e103079a0c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sumatosoft.com/blog/internet-of-things-iot-update-management-complete-guid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44575"/>
            <a:ext cx="8042100" cy="2799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4444"/>
              <a:t>Unit -1</a:t>
            </a:r>
            <a:endParaRPr sz="4444"/>
          </a:p>
          <a:p>
            <a:pPr indent="0" lvl="0" marL="0" rtl="0" algn="ctr">
              <a:spcBef>
                <a:spcPts val="0"/>
              </a:spcBef>
              <a:spcAft>
                <a:spcPts val="0"/>
              </a:spcAft>
              <a:buNone/>
            </a:pPr>
            <a:r>
              <a:t/>
            </a:r>
            <a:endParaRPr sz="4444"/>
          </a:p>
          <a:p>
            <a:pPr indent="0" lvl="0" marL="0" rtl="0" algn="ctr">
              <a:spcBef>
                <a:spcPts val="0"/>
              </a:spcBef>
              <a:spcAft>
                <a:spcPts val="0"/>
              </a:spcAft>
              <a:buNone/>
            </a:pPr>
            <a:r>
              <a:rPr lang="en" sz="3977"/>
              <a:t>IOT- AN ARCHITECTURAL OVERVIEW</a:t>
            </a:r>
            <a:r>
              <a:rPr lang="en"/>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OBJECTIVES</a:t>
            </a:r>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 understand the working of an IoT system and components</a:t>
            </a:r>
            <a:endParaRPr/>
          </a:p>
          <a:p>
            <a:pPr indent="-342900" lvl="0" marL="457200" rtl="0" algn="l">
              <a:spcBef>
                <a:spcPts val="0"/>
              </a:spcBef>
              <a:spcAft>
                <a:spcPts val="0"/>
              </a:spcAft>
              <a:buSzPts val="1800"/>
              <a:buChar char="●"/>
            </a:pPr>
            <a:r>
              <a:rPr lang="en"/>
              <a:t>To get familiar with the building blocks and the architectural functioning mechanism of IoT.</a:t>
            </a:r>
            <a:endParaRPr/>
          </a:p>
          <a:p>
            <a:pPr indent="-342900" lvl="0" marL="457200" rtl="0" algn="l">
              <a:spcBef>
                <a:spcPts val="0"/>
              </a:spcBef>
              <a:spcAft>
                <a:spcPts val="0"/>
              </a:spcAft>
              <a:buSzPts val="1800"/>
              <a:buChar char="●"/>
            </a:pPr>
            <a:r>
              <a:rPr lang="en"/>
              <a:t>To acquaint with the design principles and considerations when developing an              IoT prototype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IOT definition:</a:t>
            </a:r>
            <a:endParaRPr/>
          </a:p>
          <a:p>
            <a:pPr indent="0" lvl="0" marL="0" rtl="0" algn="l">
              <a:spcBef>
                <a:spcPts val="1200"/>
              </a:spcBef>
              <a:spcAft>
                <a:spcPts val="0"/>
              </a:spcAft>
              <a:buClr>
                <a:schemeClr val="dk1"/>
              </a:buClr>
              <a:buSzPts val="1100"/>
              <a:buFont typeface="Arial"/>
              <a:buNone/>
            </a:pPr>
            <a:r>
              <a:rPr lang="en"/>
              <a:t>The Internet of Things (IoT) describes the network of physical objects—“things”—that are embedded with sensors, software, and other technologies for the purpose of connecting and exchanging data with other devices and systems over the internet.</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idx="1" type="body"/>
          </p:nvPr>
        </p:nvSpPr>
        <p:spPr>
          <a:xfrm>
            <a:off x="311700" y="528250"/>
            <a:ext cx="8520600" cy="453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IoT Vision:</a:t>
            </a:r>
            <a:endParaRPr/>
          </a:p>
          <a:p>
            <a:pPr indent="0" lvl="0" marL="0" rtl="0" algn="l">
              <a:spcBef>
                <a:spcPts val="1200"/>
              </a:spcBef>
              <a:spcAft>
                <a:spcPts val="0"/>
              </a:spcAft>
              <a:buClr>
                <a:schemeClr val="dk1"/>
              </a:buClr>
              <a:buSzPts val="1100"/>
              <a:buFont typeface="Arial"/>
              <a:buNone/>
            </a:pPr>
            <a:r>
              <a:rPr lang="en"/>
              <a:t>Internet of Things is a vision where things (wearable watches, alarm clocks, home devices, surrounding objects) become ‘smart’ and function like living entities by sensing, computing and communicating through embedded devices which interact with remote objects (servers, clouds, applications, services and processes) or persons through the Internet.</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pic>
        <p:nvPicPr>
          <p:cNvPr id="71" name="Google Shape;71;p16"/>
          <p:cNvPicPr preferRelativeResize="0"/>
          <p:nvPr/>
        </p:nvPicPr>
        <p:blipFill>
          <a:blip r:embed="rId3">
            <a:alphaModFix/>
          </a:blip>
          <a:stretch>
            <a:fillRect/>
          </a:stretch>
        </p:blipFill>
        <p:spPr>
          <a:xfrm>
            <a:off x="2546500" y="2960700"/>
            <a:ext cx="3957200" cy="1627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ph idx="1" type="body"/>
          </p:nvPr>
        </p:nvSpPr>
        <p:spPr>
          <a:xfrm>
            <a:off x="311700" y="410625"/>
            <a:ext cx="8520600" cy="4158300"/>
          </a:xfrm>
          <a:prstGeom prst="rect">
            <a:avLst/>
          </a:prstGeom>
        </p:spPr>
        <p:txBody>
          <a:bodyPr anchorCtr="0" anchor="t" bIns="91425" lIns="91425" spcFirstLastPara="1" rIns="91425" wrap="square" tIns="91425">
            <a:normAutofit/>
          </a:bodyPr>
          <a:lstStyle/>
          <a:p>
            <a:pPr indent="1270" lvl="0" marL="0" rtl="0" algn="just">
              <a:lnSpc>
                <a:spcPct val="100000"/>
              </a:lnSpc>
              <a:spcBef>
                <a:spcPts val="0"/>
              </a:spcBef>
              <a:spcAft>
                <a:spcPts val="0"/>
              </a:spcAft>
              <a:buNone/>
            </a:pPr>
            <a:r>
              <a:rPr lang="en" sz="2400">
                <a:solidFill>
                  <a:schemeClr val="dk1"/>
                </a:solidFill>
                <a:latin typeface="Calibri"/>
                <a:ea typeface="Calibri"/>
                <a:cs typeface="Calibri"/>
                <a:sym typeface="Calibri"/>
              </a:rPr>
              <a:t>Building an architecture:</a:t>
            </a:r>
            <a:endParaRPr sz="2400">
              <a:solidFill>
                <a:schemeClr val="dk1"/>
              </a:solidFill>
              <a:latin typeface="Calibri"/>
              <a:ea typeface="Calibri"/>
              <a:cs typeface="Calibri"/>
              <a:sym typeface="Calibri"/>
            </a:endParaRPr>
          </a:p>
          <a:p>
            <a:pPr indent="1270" lvl="0" marL="0" rtl="0" algn="just">
              <a:lnSpc>
                <a:spcPct val="100000"/>
              </a:lnSpc>
              <a:spcBef>
                <a:spcPts val="0"/>
              </a:spcBef>
              <a:spcAft>
                <a:spcPts val="0"/>
              </a:spcAft>
              <a:buNone/>
            </a:pPr>
            <a:r>
              <a:rPr lang="en">
                <a:solidFill>
                  <a:schemeClr val="dk1"/>
                </a:solidFill>
                <a:latin typeface="Calibri"/>
                <a:ea typeface="Calibri"/>
                <a:cs typeface="Calibri"/>
                <a:sym typeface="Calibri"/>
              </a:rPr>
              <a:t>The IoT system's fundamental building parts include sensors, processors, gateways, and applications. To create a useful IoT system, each of these nodes must have unique properties.</a:t>
            </a:r>
            <a:endParaRPr>
              <a:solidFill>
                <a:schemeClr val="dk1"/>
              </a:solidFill>
              <a:latin typeface="Calibri"/>
              <a:ea typeface="Calibri"/>
              <a:cs typeface="Calibri"/>
              <a:sym typeface="Calibri"/>
            </a:endParaRPr>
          </a:p>
          <a:p>
            <a:pPr indent="1270" lvl="0" marL="0" rtl="0" algn="just">
              <a:lnSpc>
                <a:spcPct val="100000"/>
              </a:lnSpc>
              <a:spcBef>
                <a:spcPts val="0"/>
              </a:spcBef>
              <a:spcAft>
                <a:spcPts val="0"/>
              </a:spcAft>
              <a:buNone/>
            </a:pPr>
            <a:r>
              <a:t/>
            </a:r>
            <a:endParaRPr>
              <a:solidFill>
                <a:schemeClr val="dk1"/>
              </a:solidFill>
              <a:latin typeface="Calibri"/>
              <a:ea typeface="Calibri"/>
              <a:cs typeface="Calibri"/>
              <a:sym typeface="Calibri"/>
            </a:endParaRPr>
          </a:p>
          <a:p>
            <a:pPr indent="1270" lvl="0" marL="0" rtl="0" algn="just">
              <a:lnSpc>
                <a:spcPct val="100000"/>
              </a:lnSpc>
              <a:spcBef>
                <a:spcPts val="0"/>
              </a:spcBef>
              <a:spcAft>
                <a:spcPts val="0"/>
              </a:spcAft>
              <a:buNone/>
            </a:pPr>
            <a:r>
              <a:t/>
            </a:r>
            <a:endParaRPr>
              <a:solidFill>
                <a:schemeClr val="dk1"/>
              </a:solidFill>
              <a:latin typeface="Calibri"/>
              <a:ea typeface="Calibri"/>
              <a:cs typeface="Calibri"/>
              <a:sym typeface="Calibri"/>
            </a:endParaRPr>
          </a:p>
          <a:p>
            <a:pPr indent="1270" lvl="0" marL="0" rtl="0" algn="just">
              <a:lnSpc>
                <a:spcPct val="100000"/>
              </a:lnSpc>
              <a:spcBef>
                <a:spcPts val="0"/>
              </a:spcBef>
              <a:spcAft>
                <a:spcPts val="0"/>
              </a:spcAft>
              <a:buNone/>
            </a:pPr>
            <a:r>
              <a:t/>
            </a:r>
            <a:endParaRPr>
              <a:solidFill>
                <a:schemeClr val="dk1"/>
              </a:solidFill>
              <a:latin typeface="Calibri"/>
              <a:ea typeface="Calibri"/>
              <a:cs typeface="Calibri"/>
              <a:sym typeface="Calibri"/>
            </a:endParaRPr>
          </a:p>
          <a:p>
            <a:pPr indent="1270" lvl="0" marL="0" rtl="0" algn="just">
              <a:lnSpc>
                <a:spcPct val="100000"/>
              </a:lnSpc>
              <a:spcBef>
                <a:spcPts val="0"/>
              </a:spcBef>
              <a:spcAft>
                <a:spcPts val="0"/>
              </a:spcAft>
              <a:buNone/>
            </a:pPr>
            <a:r>
              <a:t/>
            </a:r>
            <a:endParaRPr>
              <a:solidFill>
                <a:schemeClr val="dk1"/>
              </a:solidFill>
              <a:latin typeface="Calibri"/>
              <a:ea typeface="Calibri"/>
              <a:cs typeface="Calibri"/>
              <a:sym typeface="Calibri"/>
            </a:endParaRPr>
          </a:p>
          <a:p>
            <a:pPr indent="1270" lvl="0" marL="0" rtl="0" algn="just">
              <a:lnSpc>
                <a:spcPct val="100000"/>
              </a:lnSpc>
              <a:spcBef>
                <a:spcPts val="0"/>
              </a:spcBef>
              <a:spcAft>
                <a:spcPts val="0"/>
              </a:spcAft>
              <a:buNone/>
            </a:pPr>
            <a:r>
              <a:t/>
            </a:r>
            <a:endParaRPr>
              <a:solidFill>
                <a:schemeClr val="dk1"/>
              </a:solidFill>
              <a:latin typeface="Calibri"/>
              <a:ea typeface="Calibri"/>
              <a:cs typeface="Calibri"/>
              <a:sym typeface="Calibri"/>
            </a:endParaRPr>
          </a:p>
          <a:p>
            <a:pPr indent="1270" lvl="0" marL="0" rtl="0" algn="just">
              <a:lnSpc>
                <a:spcPct val="100000"/>
              </a:lnSpc>
              <a:spcBef>
                <a:spcPts val="0"/>
              </a:spcBef>
              <a:spcAft>
                <a:spcPts val="0"/>
              </a:spcAft>
              <a:buNone/>
            </a:pPr>
            <a:r>
              <a:t/>
            </a:r>
            <a:endParaRPr>
              <a:solidFill>
                <a:schemeClr val="dk1"/>
              </a:solidFill>
              <a:latin typeface="Calibri"/>
              <a:ea typeface="Calibri"/>
              <a:cs typeface="Calibri"/>
              <a:sym typeface="Calibri"/>
            </a:endParaRPr>
          </a:p>
          <a:p>
            <a:pPr indent="1270" lvl="0" marL="0" rtl="0" algn="just">
              <a:lnSpc>
                <a:spcPct val="100000"/>
              </a:lnSpc>
              <a:spcBef>
                <a:spcPts val="0"/>
              </a:spcBef>
              <a:spcAft>
                <a:spcPts val="0"/>
              </a:spcAft>
              <a:buNone/>
            </a:pPr>
            <a:r>
              <a:t/>
            </a:r>
            <a:endParaRPr>
              <a:solidFill>
                <a:schemeClr val="dk1"/>
              </a:solidFill>
              <a:latin typeface="Calibri"/>
              <a:ea typeface="Calibri"/>
              <a:cs typeface="Calibri"/>
              <a:sym typeface="Calibri"/>
            </a:endParaRPr>
          </a:p>
          <a:p>
            <a:pPr indent="1270" lvl="0" marL="0" rtl="0" algn="just">
              <a:lnSpc>
                <a:spcPct val="100000"/>
              </a:lnSpc>
              <a:spcBef>
                <a:spcPts val="0"/>
              </a:spcBef>
              <a:spcAft>
                <a:spcPts val="0"/>
              </a:spcAft>
              <a:buNone/>
            </a:pPr>
            <a:r>
              <a:t/>
            </a:r>
            <a:endParaRPr>
              <a:solidFill>
                <a:schemeClr val="dk1"/>
              </a:solidFill>
              <a:latin typeface="Calibri"/>
              <a:ea typeface="Calibri"/>
              <a:cs typeface="Calibri"/>
              <a:sym typeface="Calibri"/>
            </a:endParaRPr>
          </a:p>
          <a:p>
            <a:pPr indent="1270" lvl="0" marL="0" rtl="0" algn="just">
              <a:lnSpc>
                <a:spcPct val="100000"/>
              </a:lnSpc>
              <a:spcBef>
                <a:spcPts val="0"/>
              </a:spcBef>
              <a:spcAft>
                <a:spcPts val="0"/>
              </a:spcAft>
              <a:buNone/>
            </a:pPr>
            <a:r>
              <a:t/>
            </a:r>
            <a:endParaRPr>
              <a:solidFill>
                <a:schemeClr val="dk1"/>
              </a:solidFill>
              <a:latin typeface="Calibri"/>
              <a:ea typeface="Calibri"/>
              <a:cs typeface="Calibri"/>
              <a:sym typeface="Calibri"/>
            </a:endParaRPr>
          </a:p>
          <a:p>
            <a:pPr indent="1270" lvl="0" marL="0" rtl="0" algn="just">
              <a:lnSpc>
                <a:spcPct val="100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p:txBody>
      </p:sp>
      <p:pic>
        <p:nvPicPr>
          <p:cNvPr id="77" name="Google Shape;77;p17"/>
          <p:cNvPicPr preferRelativeResize="0"/>
          <p:nvPr/>
        </p:nvPicPr>
        <p:blipFill>
          <a:blip r:embed="rId3">
            <a:alphaModFix/>
          </a:blip>
          <a:stretch>
            <a:fillRect/>
          </a:stretch>
        </p:blipFill>
        <p:spPr>
          <a:xfrm>
            <a:off x="3033625" y="1588025"/>
            <a:ext cx="1645775" cy="2565275"/>
          </a:xfrm>
          <a:prstGeom prst="rect">
            <a:avLst/>
          </a:prstGeom>
          <a:noFill/>
          <a:ln>
            <a:noFill/>
          </a:ln>
        </p:spPr>
      </p:pic>
      <p:sp>
        <p:nvSpPr>
          <p:cNvPr id="78" name="Google Shape;78;p17"/>
          <p:cNvSpPr/>
          <p:nvPr/>
        </p:nvSpPr>
        <p:spPr>
          <a:xfrm>
            <a:off x="1520600" y="4217450"/>
            <a:ext cx="6680400" cy="299400"/>
          </a:xfrm>
          <a:prstGeom prst="rect">
            <a:avLst/>
          </a:prstGeom>
          <a:solidFill>
            <a:schemeClr val="lt1"/>
          </a:solidFill>
          <a:ln>
            <a:noFill/>
          </a:ln>
        </p:spPr>
        <p:txBody>
          <a:bodyPr anchorCtr="0" anchor="ctr" bIns="91425" lIns="91425" spcFirstLastPara="1" rIns="91425" wrap="square" tIns="91425">
            <a:noAutofit/>
          </a:bodyPr>
          <a:lstStyle/>
          <a:p>
            <a:pPr indent="1270" lvl="0" marL="0" rtl="0" algn="just">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Fig1: Simplified block diagram of the basic building blocks of the IoT</a:t>
            </a:r>
            <a:endParaRPr sz="1800">
              <a:solidFill>
                <a:schemeClr val="dk1"/>
              </a:solidFill>
              <a:latin typeface="Calibri"/>
              <a:ea typeface="Calibri"/>
              <a:cs typeface="Calibri"/>
              <a:sym typeface="Calibri"/>
            </a:endParaRPr>
          </a:p>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idx="1" type="body"/>
          </p:nvPr>
        </p:nvSpPr>
        <p:spPr>
          <a:xfrm>
            <a:off x="311700" y="763500"/>
            <a:ext cx="8520600" cy="3805500"/>
          </a:xfrm>
          <a:prstGeom prst="rect">
            <a:avLst/>
          </a:prstGeom>
        </p:spPr>
        <p:txBody>
          <a:bodyPr anchorCtr="0" anchor="t" bIns="91425" lIns="91425" spcFirstLastPara="1" rIns="91425" wrap="square" tIns="91425">
            <a:normAutofit fontScale="25000"/>
          </a:bodyPr>
          <a:lstStyle/>
          <a:p>
            <a:pPr indent="0" lvl="0" marL="0" rtl="0" algn="l">
              <a:spcBef>
                <a:spcPts val="0"/>
              </a:spcBef>
              <a:spcAft>
                <a:spcPts val="0"/>
              </a:spcAft>
              <a:buClr>
                <a:schemeClr val="dk1"/>
              </a:buClr>
              <a:buSzPts val="275"/>
              <a:buFont typeface="Arial"/>
              <a:buNone/>
            </a:pPr>
            <a:r>
              <a:rPr b="1" lang="en" sz="7200"/>
              <a:t>Sensors</a:t>
            </a:r>
            <a:endParaRPr b="1" sz="3491"/>
          </a:p>
          <a:p>
            <a:pPr indent="-318827" lvl="0" marL="457200" rtl="0" algn="just">
              <a:spcBef>
                <a:spcPts val="1200"/>
              </a:spcBef>
              <a:spcAft>
                <a:spcPts val="0"/>
              </a:spcAft>
              <a:buSzPct val="100000"/>
              <a:buChar char="●"/>
            </a:pPr>
            <a:r>
              <a:rPr lang="en" sz="5683"/>
              <a:t>They make up the IoT devices' front end. </a:t>
            </a:r>
            <a:endParaRPr sz="5683"/>
          </a:p>
          <a:p>
            <a:pPr indent="-318827" lvl="0" marL="457200" rtl="0" algn="just">
              <a:spcBef>
                <a:spcPts val="0"/>
              </a:spcBef>
              <a:spcAft>
                <a:spcPts val="0"/>
              </a:spcAft>
              <a:buSzPct val="100000"/>
              <a:buChar char="●"/>
            </a:pPr>
            <a:r>
              <a:rPr lang="en" sz="5683"/>
              <a:t>Their primary function is to gather data from their environment (sensors) or to disseminate data to their environment (actuators).</a:t>
            </a:r>
            <a:endParaRPr sz="5683"/>
          </a:p>
          <a:p>
            <a:pPr indent="-318827" lvl="0" marL="457200" rtl="0" algn="just">
              <a:spcBef>
                <a:spcPts val="0"/>
              </a:spcBef>
              <a:spcAft>
                <a:spcPts val="0"/>
              </a:spcAft>
              <a:buSzPct val="100000"/>
              <a:buChar char="●"/>
            </a:pPr>
            <a:r>
              <a:rPr lang="en" sz="5683"/>
              <a:t>To be easily recognized across a wide network, these must be uniquely recognizable devices having a unique IP address</a:t>
            </a:r>
            <a:endParaRPr sz="5683"/>
          </a:p>
          <a:p>
            <a:pPr indent="-318827" lvl="0" marL="457200" rtl="0" algn="just">
              <a:spcBef>
                <a:spcPts val="0"/>
              </a:spcBef>
              <a:spcAft>
                <a:spcPts val="0"/>
              </a:spcAft>
              <a:buSzPct val="100000"/>
              <a:buChar char="●"/>
            </a:pPr>
            <a:r>
              <a:rPr lang="en" sz="5683"/>
              <a:t>They must be active, which means they must be able to gather data in real time. Depending on the user's demands, these can either function independently (autonomous in nature) or be modified to function independently (user-controlled).</a:t>
            </a:r>
            <a:endParaRPr sz="5683"/>
          </a:p>
          <a:p>
            <a:pPr indent="-318827" lvl="0" marL="457200" rtl="0" algn="just">
              <a:spcBef>
                <a:spcPts val="0"/>
              </a:spcBef>
              <a:spcAft>
                <a:spcPts val="0"/>
              </a:spcAft>
              <a:buSzPct val="100000"/>
              <a:buChar char="●"/>
            </a:pPr>
            <a:r>
              <a:rPr lang="en" sz="5683"/>
              <a:t>Gas sensors, water quality sensors, moisture sensors, and other types of sensors are examples.</a:t>
            </a:r>
            <a:endParaRPr sz="5683"/>
          </a:p>
          <a:p>
            <a:pPr indent="0" lvl="0" marL="0" rtl="0" algn="l">
              <a:spcBef>
                <a:spcPts val="1200"/>
              </a:spcBef>
              <a:spcAft>
                <a:spcPts val="0"/>
              </a:spcAft>
              <a:buNone/>
            </a:pPr>
            <a:r>
              <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idx="1" type="body"/>
          </p:nvPr>
        </p:nvSpPr>
        <p:spPr>
          <a:xfrm>
            <a:off x="311700" y="849050"/>
            <a:ext cx="8520600" cy="37197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Clr>
                <a:schemeClr val="dk1"/>
              </a:buClr>
              <a:buSzPct val="49453"/>
              <a:buFont typeface="Arial"/>
              <a:buNone/>
            </a:pPr>
            <a:r>
              <a:rPr b="1" lang="en" sz="2224"/>
              <a:t>Processors</a:t>
            </a:r>
            <a:endParaRPr b="1" sz="2224"/>
          </a:p>
          <a:p>
            <a:pPr indent="-334327" lvl="0" marL="457200" rtl="0" algn="just">
              <a:spcBef>
                <a:spcPts val="1200"/>
              </a:spcBef>
              <a:spcAft>
                <a:spcPts val="0"/>
              </a:spcAft>
              <a:buSzPct val="100000"/>
              <a:buChar char="●"/>
            </a:pPr>
            <a:r>
              <a:rPr lang="en"/>
              <a:t>The IoT system's brain is its processor. Their primary duty is to process the information obtained by the sensors and separate the useful information from the vast amounts of raw information gathered. In a single sentence, we may claim that it offers the data intelligence.</a:t>
            </a:r>
            <a:endParaRPr/>
          </a:p>
          <a:p>
            <a:pPr indent="-334327" lvl="0" marL="457200" rtl="0" algn="just">
              <a:spcBef>
                <a:spcPts val="0"/>
              </a:spcBef>
              <a:spcAft>
                <a:spcPts val="0"/>
              </a:spcAft>
              <a:buSzPct val="100000"/>
              <a:buChar char="●"/>
            </a:pPr>
            <a:r>
              <a:rPr lang="en"/>
              <a:t>Most processors operate in real-time and are simple for programs to regulate. They are also in charge of encrypting and decrypting data in order to secure the data.</a:t>
            </a:r>
            <a:endParaRPr/>
          </a:p>
          <a:p>
            <a:pPr indent="-334327" lvl="0" marL="457200" rtl="0" algn="just">
              <a:spcBef>
                <a:spcPts val="0"/>
              </a:spcBef>
              <a:spcAft>
                <a:spcPts val="0"/>
              </a:spcAft>
              <a:buSzPct val="100000"/>
              <a:buChar char="●"/>
            </a:pPr>
            <a:r>
              <a:rPr lang="en"/>
              <a:t>Because they have processors attached to them, embedded hardware devices, microcontrollers, etc., are the ones that process the data.</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n" sz="2400"/>
              <a:t>Gateways</a:t>
            </a:r>
            <a:endParaRPr b="1" sz="2400"/>
          </a:p>
          <a:p>
            <a:pPr indent="-342900" lvl="0" marL="457200" rtl="0" algn="l">
              <a:spcBef>
                <a:spcPts val="1200"/>
              </a:spcBef>
              <a:spcAft>
                <a:spcPts val="0"/>
              </a:spcAft>
              <a:buSzPts val="1800"/>
              <a:buChar char="●"/>
            </a:pPr>
            <a:r>
              <a:rPr lang="en"/>
              <a:t>Gateways are in charge of sending the processed data to the appropriate areas for proper utilization.</a:t>
            </a:r>
            <a:endParaRPr/>
          </a:p>
          <a:p>
            <a:pPr indent="-342900" lvl="0" marL="457200" rtl="0" algn="l">
              <a:spcBef>
                <a:spcPts val="0"/>
              </a:spcBef>
              <a:spcAft>
                <a:spcPts val="0"/>
              </a:spcAft>
              <a:buSzPts val="1800"/>
              <a:buChar char="●"/>
            </a:pPr>
            <a:r>
              <a:rPr lang="en"/>
              <a:t>In other words, we can say that a gateway facilitates the communication of data between two points. It gives the data network connectivity. Any IoT system must have network connectivity in order to interact.</a:t>
            </a:r>
            <a:endParaRPr/>
          </a:p>
          <a:p>
            <a:pPr indent="-342900" lvl="0" marL="457200" rtl="0" algn="l">
              <a:spcBef>
                <a:spcPts val="0"/>
              </a:spcBef>
              <a:spcAft>
                <a:spcPts val="0"/>
              </a:spcAft>
              <a:buSzPts val="1800"/>
              <a:buChar char="●"/>
            </a:pPr>
            <a:r>
              <a:rPr lang="en"/>
              <a:t>Network gateways include LAN, WAN, PAN, etc.</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en" sz="2448"/>
              <a:t>Applications</a:t>
            </a:r>
            <a:endParaRPr b="1" sz="2448"/>
          </a:p>
          <a:p>
            <a:pPr indent="0" lvl="0" marL="0" rtl="0" algn="l">
              <a:spcBef>
                <a:spcPts val="1200"/>
              </a:spcBef>
              <a:spcAft>
                <a:spcPts val="0"/>
              </a:spcAft>
              <a:buClr>
                <a:schemeClr val="dk1"/>
              </a:buClr>
              <a:buSzPct val="44922"/>
              <a:buFont typeface="Arial"/>
              <a:buNone/>
            </a:pPr>
            <a:r>
              <a:t/>
            </a:r>
            <a:endParaRPr b="1" sz="2448"/>
          </a:p>
          <a:p>
            <a:pPr indent="-325755" lvl="0" marL="457200" rtl="0" algn="l">
              <a:spcBef>
                <a:spcPts val="1200"/>
              </a:spcBef>
              <a:spcAft>
                <a:spcPts val="0"/>
              </a:spcAft>
              <a:buSzPct val="100000"/>
              <a:buChar char="●"/>
            </a:pPr>
            <a:r>
              <a:rPr lang="en"/>
              <a:t>Another component of an IoT system is applications. Apps are necessary for the effective use of all obtained data.</a:t>
            </a:r>
            <a:endParaRPr/>
          </a:p>
          <a:p>
            <a:pPr indent="-325755" lvl="0" marL="457200" rtl="0" algn="l">
              <a:spcBef>
                <a:spcPts val="0"/>
              </a:spcBef>
              <a:spcAft>
                <a:spcPts val="0"/>
              </a:spcAft>
              <a:buSzPct val="100000"/>
              <a:buChar char="●"/>
            </a:pPr>
            <a:r>
              <a:rPr lang="en"/>
              <a:t>These cloud-based applications are in charge of giving the obtained data an effective meaning. Users control applications, which are used to deliver certain services.</a:t>
            </a:r>
            <a:endParaRPr/>
          </a:p>
          <a:p>
            <a:pPr indent="-325755" lvl="0" marL="457200" rtl="0" algn="l">
              <a:spcBef>
                <a:spcPts val="0"/>
              </a:spcBef>
              <a:spcAft>
                <a:spcPts val="0"/>
              </a:spcAft>
              <a:buSzPct val="100000"/>
              <a:buChar char="●"/>
            </a:pPr>
            <a:r>
              <a:rPr lang="en"/>
              <a:t>Applications include things like security systems, industrial control hubs, and apps for home automation.</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2"/>
          <p:cNvSpPr txBox="1"/>
          <p:nvPr>
            <p:ph type="title"/>
          </p:nvPr>
        </p:nvSpPr>
        <p:spPr>
          <a:xfrm>
            <a:off x="204550" y="210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Main design principle of IoT architecture</a:t>
            </a:r>
            <a:endParaRPr b="1"/>
          </a:p>
        </p:txBody>
      </p:sp>
      <p:pic>
        <p:nvPicPr>
          <p:cNvPr id="104" name="Google Shape;104;p22"/>
          <p:cNvPicPr preferRelativeResize="0"/>
          <p:nvPr/>
        </p:nvPicPr>
        <p:blipFill rotWithShape="1">
          <a:blip r:embed="rId3">
            <a:alphaModFix/>
          </a:blip>
          <a:srcRect b="6827" l="0" r="0" t="12941"/>
          <a:stretch/>
        </p:blipFill>
        <p:spPr>
          <a:xfrm>
            <a:off x="602675" y="783275"/>
            <a:ext cx="7471350" cy="39350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3"/>
          <p:cNvSpPr txBox="1"/>
          <p:nvPr>
            <p:ph idx="1" type="body"/>
          </p:nvPr>
        </p:nvSpPr>
        <p:spPr>
          <a:xfrm>
            <a:off x="311700" y="178075"/>
            <a:ext cx="8698200" cy="4390800"/>
          </a:xfrm>
          <a:prstGeom prst="rect">
            <a:avLst/>
          </a:prstGeom>
        </p:spPr>
        <p:txBody>
          <a:bodyPr anchorCtr="0" anchor="t" bIns="91425" lIns="91425" spcFirstLastPara="1" rIns="91425" wrap="square" tIns="91425">
            <a:normAutofit fontScale="70000" lnSpcReduction="10000"/>
          </a:bodyPr>
          <a:lstStyle/>
          <a:p>
            <a:pPr indent="0" lvl="0" marL="0" rtl="0" algn="l">
              <a:lnSpc>
                <a:spcPct val="128571"/>
              </a:lnSpc>
              <a:spcBef>
                <a:spcPts val="3000"/>
              </a:spcBef>
              <a:spcAft>
                <a:spcPts val="0"/>
              </a:spcAft>
              <a:buClr>
                <a:schemeClr val="dk1"/>
              </a:buClr>
              <a:buSzPct val="62535"/>
              <a:buFont typeface="Arial"/>
              <a:buNone/>
            </a:pPr>
            <a:r>
              <a:rPr lang="en" sz="1758">
                <a:solidFill>
                  <a:schemeClr val="dk1"/>
                </a:solidFill>
              </a:rPr>
              <a:t>A </a:t>
            </a:r>
            <a:r>
              <a:rPr b="1" lang="en" sz="1758">
                <a:solidFill>
                  <a:schemeClr val="dk1"/>
                </a:solidFill>
              </a:rPr>
              <a:t>design principle</a:t>
            </a:r>
            <a:r>
              <a:rPr lang="en" sz="1758">
                <a:solidFill>
                  <a:schemeClr val="dk1"/>
                </a:solidFill>
              </a:rPr>
              <a:t> means a </a:t>
            </a:r>
            <a:r>
              <a:rPr b="1" lang="en" sz="1758">
                <a:solidFill>
                  <a:schemeClr val="dk1"/>
                </a:solidFill>
              </a:rPr>
              <a:t>guideline or rule</a:t>
            </a:r>
            <a:r>
              <a:rPr lang="en" sz="1758">
                <a:solidFill>
                  <a:schemeClr val="dk1"/>
                </a:solidFill>
              </a:rPr>
              <a:t> that helps you build an </a:t>
            </a:r>
            <a:r>
              <a:rPr b="1" lang="en" sz="1758">
                <a:solidFill>
                  <a:schemeClr val="dk1"/>
                </a:solidFill>
              </a:rPr>
              <a:t>effective, robust, and reliable</a:t>
            </a:r>
            <a:r>
              <a:rPr lang="en" sz="1758">
                <a:solidFill>
                  <a:schemeClr val="dk1"/>
                </a:solidFill>
              </a:rPr>
              <a:t> IoT system.</a:t>
            </a:r>
            <a:endParaRPr sz="2758">
              <a:solidFill>
                <a:schemeClr val="dk1"/>
              </a:solidFill>
            </a:endParaRPr>
          </a:p>
          <a:p>
            <a:pPr indent="0" lvl="0" marL="0" rtl="0" algn="l">
              <a:lnSpc>
                <a:spcPct val="128571"/>
              </a:lnSpc>
              <a:spcBef>
                <a:spcPts val="3000"/>
              </a:spcBef>
              <a:spcAft>
                <a:spcPts val="0"/>
              </a:spcAft>
              <a:buClr>
                <a:schemeClr val="dk1"/>
              </a:buClr>
              <a:buSzPct val="52380"/>
              <a:buFont typeface="Arial"/>
              <a:buNone/>
            </a:pPr>
            <a:r>
              <a:rPr lang="en" sz="2100">
                <a:solidFill>
                  <a:schemeClr val="dk1"/>
                </a:solidFill>
              </a:rPr>
              <a:t>Think of security in advance</a:t>
            </a:r>
            <a:endParaRPr sz="2100">
              <a:solidFill>
                <a:schemeClr val="dk1"/>
              </a:solidFill>
            </a:endParaRPr>
          </a:p>
          <a:p>
            <a:pPr indent="-299572" lvl="0" marL="457200" rtl="0" algn="l">
              <a:lnSpc>
                <a:spcPct val="155555"/>
              </a:lnSpc>
              <a:spcBef>
                <a:spcPts val="1200"/>
              </a:spcBef>
              <a:spcAft>
                <a:spcPts val="0"/>
              </a:spcAft>
              <a:buClr>
                <a:schemeClr val="dk1"/>
              </a:buClr>
              <a:buSzPct val="100000"/>
              <a:buChar char="●"/>
            </a:pPr>
            <a:r>
              <a:rPr lang="en" sz="1596">
                <a:solidFill>
                  <a:schemeClr val="dk1"/>
                </a:solidFill>
              </a:rPr>
              <a:t>Privacy and security issues are the key challenge for IoT products. </a:t>
            </a:r>
            <a:endParaRPr sz="1596">
              <a:solidFill>
                <a:schemeClr val="dk1"/>
              </a:solidFill>
            </a:endParaRPr>
          </a:p>
          <a:p>
            <a:pPr indent="-299572" lvl="0" marL="457200" rtl="0" algn="l">
              <a:lnSpc>
                <a:spcPct val="155555"/>
              </a:lnSpc>
              <a:spcBef>
                <a:spcPts val="0"/>
              </a:spcBef>
              <a:spcAft>
                <a:spcPts val="0"/>
              </a:spcAft>
              <a:buClr>
                <a:schemeClr val="dk1"/>
              </a:buClr>
              <a:buSzPct val="100000"/>
              <a:buChar char="●"/>
            </a:pPr>
            <a:r>
              <a:rPr lang="en" sz="1596">
                <a:solidFill>
                  <a:schemeClr val="dk1"/>
                </a:solidFill>
              </a:rPr>
              <a:t>Incorrect or insecure software may open a network to hackers’ attacks and data leakage. </a:t>
            </a:r>
            <a:endParaRPr sz="1596">
              <a:solidFill>
                <a:schemeClr val="dk1"/>
              </a:solidFill>
            </a:endParaRPr>
          </a:p>
          <a:p>
            <a:pPr indent="-299572" lvl="0" marL="457200" rtl="0" algn="l">
              <a:lnSpc>
                <a:spcPct val="155555"/>
              </a:lnSpc>
              <a:spcBef>
                <a:spcPts val="0"/>
              </a:spcBef>
              <a:spcAft>
                <a:spcPts val="0"/>
              </a:spcAft>
              <a:buClr>
                <a:schemeClr val="dk1"/>
              </a:buClr>
              <a:buSzPct val="100000"/>
              <a:buChar char="●"/>
            </a:pPr>
            <a:r>
              <a:rPr lang="en" sz="1596">
                <a:solidFill>
                  <a:schemeClr val="dk1"/>
                </a:solidFill>
              </a:rPr>
              <a:t>In addition, there is a need to establish proper security update processes as a part of </a:t>
            </a:r>
            <a:r>
              <a:rPr lang="en" sz="1596">
                <a:solidFill>
                  <a:schemeClr val="dk1"/>
                </a:solidFill>
                <a:uFill>
                  <a:noFill/>
                </a:uFill>
                <a:hlinkClick r:id="rId3">
                  <a:extLst>
                    <a:ext uri="{A12FA001-AC4F-418D-AE19-62706E023703}">
                      <ahyp:hlinkClr val="tx"/>
                    </a:ext>
                  </a:extLst>
                </a:hlinkClick>
              </a:rPr>
              <a:t>IoT update management</a:t>
            </a:r>
            <a:r>
              <a:rPr lang="en" sz="1596">
                <a:solidFill>
                  <a:schemeClr val="dk1"/>
                </a:solidFill>
              </a:rPr>
              <a:t> to deploy security patches effectively and quickly.</a:t>
            </a:r>
            <a:endParaRPr sz="1596">
              <a:solidFill>
                <a:schemeClr val="dk1"/>
              </a:solidFill>
            </a:endParaRPr>
          </a:p>
          <a:p>
            <a:pPr indent="0" lvl="0" marL="0" rtl="0" algn="l">
              <a:lnSpc>
                <a:spcPct val="128571"/>
              </a:lnSpc>
              <a:spcBef>
                <a:spcPts val="3000"/>
              </a:spcBef>
              <a:spcAft>
                <a:spcPts val="0"/>
              </a:spcAft>
              <a:buClr>
                <a:schemeClr val="dk1"/>
              </a:buClr>
              <a:buSzPct val="52380"/>
              <a:buFont typeface="Arial"/>
              <a:buNone/>
            </a:pPr>
            <a:r>
              <a:rPr lang="en" sz="2100">
                <a:solidFill>
                  <a:schemeClr val="dk1"/>
                </a:solidFill>
              </a:rPr>
              <a:t>Test in the real environment</a:t>
            </a:r>
            <a:endParaRPr sz="2100">
              <a:solidFill>
                <a:schemeClr val="dk1"/>
              </a:solidFill>
            </a:endParaRPr>
          </a:p>
          <a:p>
            <a:pPr indent="-299572" lvl="0" marL="457200" rtl="0" algn="l">
              <a:lnSpc>
                <a:spcPct val="155555"/>
              </a:lnSpc>
              <a:spcBef>
                <a:spcPts val="1200"/>
              </a:spcBef>
              <a:spcAft>
                <a:spcPts val="0"/>
              </a:spcAft>
              <a:buClr>
                <a:schemeClr val="dk1"/>
              </a:buClr>
              <a:buSzPct val="100000"/>
              <a:buChar char="●"/>
            </a:pPr>
            <a:r>
              <a:rPr lang="en" sz="1596">
                <a:solidFill>
                  <a:schemeClr val="dk1"/>
                </a:solidFill>
              </a:rPr>
              <a:t>The IoT fleet interacts with the environment which makes it vulnerable to all kinds of physical effects like hits, rapid temperature drops etc. </a:t>
            </a:r>
            <a:endParaRPr sz="1596">
              <a:solidFill>
                <a:schemeClr val="dk1"/>
              </a:solidFill>
            </a:endParaRPr>
          </a:p>
          <a:p>
            <a:pPr indent="-299572" lvl="0" marL="457200" rtl="0" algn="l">
              <a:lnSpc>
                <a:spcPct val="155555"/>
              </a:lnSpc>
              <a:spcBef>
                <a:spcPts val="0"/>
              </a:spcBef>
              <a:spcAft>
                <a:spcPts val="0"/>
              </a:spcAft>
              <a:buClr>
                <a:schemeClr val="dk1"/>
              </a:buClr>
              <a:buSzPct val="100000"/>
              <a:buChar char="●"/>
            </a:pPr>
            <a:r>
              <a:rPr lang="en" sz="1596">
                <a:solidFill>
                  <a:schemeClr val="dk1"/>
                </a:solidFill>
              </a:rPr>
              <a:t>All these treats are hard to test in laboratory conditions, so it’s necessary to test devices in a real environment where they are supposed to work further. </a:t>
            </a:r>
            <a:endParaRPr sz="1596">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4"/>
          <p:cNvSpPr txBox="1"/>
          <p:nvPr>
            <p:ph idx="1" type="body"/>
          </p:nvPr>
        </p:nvSpPr>
        <p:spPr>
          <a:xfrm>
            <a:off x="311700" y="805975"/>
            <a:ext cx="8520600" cy="3762900"/>
          </a:xfrm>
          <a:prstGeom prst="rect">
            <a:avLst/>
          </a:prstGeom>
        </p:spPr>
        <p:txBody>
          <a:bodyPr anchorCtr="0" anchor="t" bIns="91425" lIns="91425" spcFirstLastPara="1" rIns="91425" wrap="square" tIns="91425">
            <a:normAutofit fontScale="92500" lnSpcReduction="20000"/>
          </a:bodyPr>
          <a:lstStyle/>
          <a:p>
            <a:pPr indent="0" lvl="0" marL="0" rtl="0" algn="l">
              <a:lnSpc>
                <a:spcPct val="128571"/>
              </a:lnSpc>
              <a:spcBef>
                <a:spcPts val="3000"/>
              </a:spcBef>
              <a:spcAft>
                <a:spcPts val="0"/>
              </a:spcAft>
              <a:buClr>
                <a:schemeClr val="dk1"/>
              </a:buClr>
              <a:buSzPct val="52380"/>
              <a:buFont typeface="Arial"/>
              <a:buNone/>
            </a:pPr>
            <a:r>
              <a:rPr lang="en" sz="2100">
                <a:solidFill>
                  <a:schemeClr val="dk1"/>
                </a:solidFill>
              </a:rPr>
              <a:t>Apply UX in device and application development </a:t>
            </a:r>
            <a:endParaRPr sz="2100">
              <a:solidFill>
                <a:schemeClr val="dk1"/>
              </a:solidFill>
            </a:endParaRPr>
          </a:p>
          <a:p>
            <a:pPr indent="-314806" lvl="0" marL="457200" rtl="0" algn="l">
              <a:lnSpc>
                <a:spcPct val="155555"/>
              </a:lnSpc>
              <a:spcBef>
                <a:spcPts val="1200"/>
              </a:spcBef>
              <a:spcAft>
                <a:spcPts val="0"/>
              </a:spcAft>
              <a:buClr>
                <a:schemeClr val="dk1"/>
              </a:buClr>
              <a:buSzPct val="100000"/>
              <a:buChar char="●"/>
            </a:pPr>
            <a:r>
              <a:rPr lang="en" sz="1467">
                <a:solidFill>
                  <a:schemeClr val="dk1"/>
                </a:solidFill>
              </a:rPr>
              <a:t>UX aims to provide a positive experience and helps to meet user needs and requirements. </a:t>
            </a:r>
            <a:endParaRPr sz="1467">
              <a:solidFill>
                <a:schemeClr val="dk1"/>
              </a:solidFill>
            </a:endParaRPr>
          </a:p>
          <a:p>
            <a:pPr indent="-314806" lvl="0" marL="457200" rtl="0" algn="l">
              <a:lnSpc>
                <a:spcPct val="155555"/>
              </a:lnSpc>
              <a:spcBef>
                <a:spcPts val="0"/>
              </a:spcBef>
              <a:spcAft>
                <a:spcPts val="0"/>
              </a:spcAft>
              <a:buClr>
                <a:schemeClr val="dk1"/>
              </a:buClr>
              <a:buSzPct val="100000"/>
              <a:buChar char="●"/>
            </a:pPr>
            <a:r>
              <a:rPr lang="en" sz="1467">
                <a:solidFill>
                  <a:schemeClr val="dk1"/>
                </a:solidFill>
              </a:rPr>
              <a:t>UX-based IoT design brings great value to the final user and the IoT system. </a:t>
            </a:r>
            <a:endParaRPr sz="1467">
              <a:solidFill>
                <a:schemeClr val="dk1"/>
              </a:solidFill>
            </a:endParaRPr>
          </a:p>
          <a:p>
            <a:pPr indent="0" lvl="0" marL="0" rtl="0" algn="l">
              <a:lnSpc>
                <a:spcPct val="128571"/>
              </a:lnSpc>
              <a:spcBef>
                <a:spcPts val="3000"/>
              </a:spcBef>
              <a:spcAft>
                <a:spcPts val="0"/>
              </a:spcAft>
              <a:buClr>
                <a:schemeClr val="dk1"/>
              </a:buClr>
              <a:buSzPct val="52380"/>
              <a:buFont typeface="Arial"/>
              <a:buNone/>
            </a:pPr>
            <a:r>
              <a:rPr lang="en" sz="2100">
                <a:solidFill>
                  <a:schemeClr val="dk1"/>
                </a:solidFill>
              </a:rPr>
              <a:t>Provide the autonomy of devices during connection loss </a:t>
            </a:r>
            <a:endParaRPr sz="2100">
              <a:solidFill>
                <a:schemeClr val="dk1"/>
              </a:solidFill>
            </a:endParaRPr>
          </a:p>
          <a:p>
            <a:pPr indent="-314806" lvl="0" marL="457200" rtl="0" algn="l">
              <a:lnSpc>
                <a:spcPct val="155555"/>
              </a:lnSpc>
              <a:spcBef>
                <a:spcPts val="1200"/>
              </a:spcBef>
              <a:spcAft>
                <a:spcPts val="0"/>
              </a:spcAft>
              <a:buClr>
                <a:schemeClr val="dk1"/>
              </a:buClr>
              <a:buSzPct val="100000"/>
              <a:buChar char="●"/>
            </a:pPr>
            <a:r>
              <a:rPr lang="en" sz="1467">
                <a:solidFill>
                  <a:schemeClr val="dk1"/>
                </a:solidFill>
              </a:rPr>
              <a:t>The Internet of Things is about connectivity. However, there will be a time when the device will disconnect from the network. </a:t>
            </a:r>
            <a:endParaRPr sz="1467">
              <a:solidFill>
                <a:schemeClr val="dk1"/>
              </a:solidFill>
            </a:endParaRPr>
          </a:p>
          <a:p>
            <a:pPr indent="-314806" lvl="0" marL="457200" rtl="0" algn="l">
              <a:lnSpc>
                <a:spcPct val="155555"/>
              </a:lnSpc>
              <a:spcBef>
                <a:spcPts val="0"/>
              </a:spcBef>
              <a:spcAft>
                <a:spcPts val="0"/>
              </a:spcAft>
              <a:buClr>
                <a:schemeClr val="dk1"/>
              </a:buClr>
              <a:buSzPct val="100000"/>
              <a:buChar char="●"/>
            </a:pPr>
            <a:r>
              <a:rPr lang="en" sz="1467">
                <a:solidFill>
                  <a:schemeClr val="dk1"/>
                </a:solidFill>
              </a:rPr>
              <a:t>The device should continue to work properly and transfer the collected information when the connection will be restored. </a:t>
            </a:r>
            <a:endParaRPr sz="1467">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5"/>
          <p:cNvSpPr txBox="1"/>
          <p:nvPr>
            <p:ph idx="1" type="body"/>
          </p:nvPr>
        </p:nvSpPr>
        <p:spPr>
          <a:xfrm>
            <a:off x="348250" y="431425"/>
            <a:ext cx="8520600" cy="4182900"/>
          </a:xfrm>
          <a:prstGeom prst="rect">
            <a:avLst/>
          </a:prstGeom>
        </p:spPr>
        <p:txBody>
          <a:bodyPr anchorCtr="0" anchor="t" bIns="91425" lIns="91425" spcFirstLastPara="1" rIns="91425" wrap="square" tIns="91425">
            <a:normAutofit lnSpcReduction="10000"/>
          </a:bodyPr>
          <a:lstStyle/>
          <a:p>
            <a:pPr indent="0" lvl="0" marL="0" rtl="0" algn="l">
              <a:lnSpc>
                <a:spcPct val="128571"/>
              </a:lnSpc>
              <a:spcBef>
                <a:spcPts val="3000"/>
              </a:spcBef>
              <a:spcAft>
                <a:spcPts val="0"/>
              </a:spcAft>
              <a:buClr>
                <a:schemeClr val="dk1"/>
              </a:buClr>
              <a:buSzPts val="1100"/>
              <a:buFont typeface="Arial"/>
              <a:buNone/>
            </a:pPr>
            <a:r>
              <a:rPr lang="en" sz="2100">
                <a:solidFill>
                  <a:schemeClr val="dk1"/>
                </a:solidFill>
              </a:rPr>
              <a:t>The system should be easily scalable </a:t>
            </a:r>
            <a:endParaRPr sz="2100">
              <a:solidFill>
                <a:schemeClr val="dk1"/>
              </a:solidFill>
            </a:endParaRPr>
          </a:p>
          <a:p>
            <a:pPr indent="-351699" lvl="0" marL="457200" rtl="0" algn="l">
              <a:lnSpc>
                <a:spcPct val="155555"/>
              </a:lnSpc>
              <a:spcBef>
                <a:spcPts val="1200"/>
              </a:spcBef>
              <a:spcAft>
                <a:spcPts val="0"/>
              </a:spcAft>
              <a:buClr>
                <a:schemeClr val="dk1"/>
              </a:buClr>
              <a:buSzPts val="1939"/>
              <a:buChar char="●"/>
            </a:pPr>
            <a:r>
              <a:rPr lang="en" sz="1938">
                <a:solidFill>
                  <a:schemeClr val="dk1"/>
                </a:solidFill>
              </a:rPr>
              <a:t>The future growth of the IoT system directly depends on its opportunities to scale efficiently and stay robust when the volume of data and the number of devices increase.</a:t>
            </a:r>
            <a:endParaRPr sz="1938">
              <a:solidFill>
                <a:schemeClr val="dk1"/>
              </a:solidFill>
            </a:endParaRPr>
          </a:p>
          <a:p>
            <a:pPr indent="0" lvl="0" marL="0" rtl="0" algn="l">
              <a:lnSpc>
                <a:spcPct val="128571"/>
              </a:lnSpc>
              <a:spcBef>
                <a:spcPts val="3000"/>
              </a:spcBef>
              <a:spcAft>
                <a:spcPts val="0"/>
              </a:spcAft>
              <a:buNone/>
            </a:pPr>
            <a:r>
              <a:rPr lang="en" sz="2100">
                <a:solidFill>
                  <a:schemeClr val="dk1"/>
                </a:solidFill>
              </a:rPr>
              <a:t>Build trust in your system </a:t>
            </a:r>
            <a:endParaRPr sz="2100">
              <a:solidFill>
                <a:schemeClr val="dk1"/>
              </a:solidFill>
            </a:endParaRPr>
          </a:p>
          <a:p>
            <a:pPr indent="-341539" lvl="0" marL="457200" rtl="0" algn="l">
              <a:lnSpc>
                <a:spcPct val="155555"/>
              </a:lnSpc>
              <a:spcBef>
                <a:spcPts val="1200"/>
              </a:spcBef>
              <a:spcAft>
                <a:spcPts val="0"/>
              </a:spcAft>
              <a:buClr>
                <a:schemeClr val="dk1"/>
              </a:buClr>
              <a:buSzPts val="1779"/>
              <a:buChar char="●"/>
            </a:pPr>
            <a:r>
              <a:rPr lang="en" sz="1778">
                <a:solidFill>
                  <a:schemeClr val="dk1"/>
                </a:solidFill>
              </a:rPr>
              <a:t>Since the Internet of Things often deals with sensitive information, you need to build trust in your system to acquire more users. Trust should become one of the core values.</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6"/>
          <p:cNvSpPr txBox="1"/>
          <p:nvPr>
            <p:ph idx="1" type="body"/>
          </p:nvPr>
        </p:nvSpPr>
        <p:spPr>
          <a:xfrm>
            <a:off x="266025" y="531900"/>
            <a:ext cx="8520600" cy="3965100"/>
          </a:xfrm>
          <a:prstGeom prst="rect">
            <a:avLst/>
          </a:prstGeom>
        </p:spPr>
        <p:txBody>
          <a:bodyPr anchorCtr="0" anchor="t" bIns="91425" lIns="91425" spcFirstLastPara="1" rIns="91425" wrap="square" tIns="91425">
            <a:normAutofit lnSpcReduction="20000"/>
          </a:bodyPr>
          <a:lstStyle/>
          <a:p>
            <a:pPr indent="0" lvl="0" marL="0" rtl="0" algn="l">
              <a:lnSpc>
                <a:spcPct val="128571"/>
              </a:lnSpc>
              <a:spcBef>
                <a:spcPts val="3000"/>
              </a:spcBef>
              <a:spcAft>
                <a:spcPts val="0"/>
              </a:spcAft>
              <a:buClr>
                <a:schemeClr val="dk1"/>
              </a:buClr>
              <a:buSzPts val="1100"/>
              <a:buFont typeface="Arial"/>
              <a:buNone/>
            </a:pPr>
            <a:r>
              <a:rPr lang="en" sz="2100">
                <a:solidFill>
                  <a:schemeClr val="dk1"/>
                </a:solidFill>
              </a:rPr>
              <a:t>Deploy only working products </a:t>
            </a:r>
            <a:endParaRPr sz="2100">
              <a:solidFill>
                <a:schemeClr val="dk1"/>
              </a:solidFill>
            </a:endParaRPr>
          </a:p>
          <a:p>
            <a:pPr indent="-314325" lvl="0" marL="457200" rtl="0" algn="l">
              <a:lnSpc>
                <a:spcPct val="155555"/>
              </a:lnSpc>
              <a:spcBef>
                <a:spcPts val="1200"/>
              </a:spcBef>
              <a:spcAft>
                <a:spcPts val="0"/>
              </a:spcAft>
              <a:buClr>
                <a:schemeClr val="dk1"/>
              </a:buClr>
              <a:buSzPts val="1350"/>
              <a:buChar char="●"/>
            </a:pPr>
            <a:r>
              <a:rPr lang="en" sz="1350">
                <a:solidFill>
                  <a:schemeClr val="dk1"/>
                </a:solidFill>
              </a:rPr>
              <a:t>Once the connected devices are deployed, their replacement with a newer version will be an almost impossible task to accomplish because of high costs. </a:t>
            </a:r>
            <a:endParaRPr sz="1350">
              <a:solidFill>
                <a:schemeClr val="dk1"/>
              </a:solidFill>
            </a:endParaRPr>
          </a:p>
          <a:p>
            <a:pPr indent="-307975" lvl="0" marL="457200" rtl="0" algn="l">
              <a:lnSpc>
                <a:spcPct val="155555"/>
              </a:lnSpc>
              <a:spcBef>
                <a:spcPts val="0"/>
              </a:spcBef>
              <a:spcAft>
                <a:spcPts val="0"/>
              </a:spcAft>
              <a:buClr>
                <a:schemeClr val="dk1"/>
              </a:buClr>
              <a:buSzPts val="1250"/>
              <a:buChar char="●"/>
            </a:pPr>
            <a:r>
              <a:rPr lang="en" sz="1350">
                <a:solidFill>
                  <a:schemeClr val="dk1"/>
                </a:solidFill>
              </a:rPr>
              <a:t>That means that one single error in the fleet which is detected after the fleet deployment can lead to large financial losses. Due to that, it’s good to avoid untested hardware iterations and deploy only working products</a:t>
            </a:r>
            <a:r>
              <a:rPr lang="en" sz="1250">
                <a:solidFill>
                  <a:schemeClr val="dk1"/>
                </a:solidFill>
              </a:rPr>
              <a:t>.</a:t>
            </a:r>
            <a:endParaRPr sz="1250">
              <a:solidFill>
                <a:schemeClr val="dk1"/>
              </a:solidFill>
            </a:endParaRPr>
          </a:p>
          <a:p>
            <a:pPr indent="0" lvl="0" marL="0" rtl="0" algn="l">
              <a:lnSpc>
                <a:spcPct val="155555"/>
              </a:lnSpc>
              <a:spcBef>
                <a:spcPts val="1200"/>
              </a:spcBef>
              <a:spcAft>
                <a:spcPts val="0"/>
              </a:spcAft>
              <a:buNone/>
            </a:pPr>
            <a:r>
              <a:rPr lang="en" sz="2100">
                <a:solidFill>
                  <a:schemeClr val="dk1"/>
                </a:solidFill>
              </a:rPr>
              <a:t>Data management and analysis should be effective </a:t>
            </a:r>
            <a:endParaRPr sz="2100">
              <a:solidFill>
                <a:schemeClr val="dk1"/>
              </a:solidFill>
            </a:endParaRPr>
          </a:p>
          <a:p>
            <a:pPr indent="-315445" lvl="0" marL="457200" rtl="0" algn="l">
              <a:lnSpc>
                <a:spcPct val="155555"/>
              </a:lnSpc>
              <a:spcBef>
                <a:spcPts val="1200"/>
              </a:spcBef>
              <a:spcAft>
                <a:spcPts val="0"/>
              </a:spcAft>
              <a:buClr>
                <a:schemeClr val="dk1"/>
              </a:buClr>
              <a:buSzPts val="1368"/>
              <a:buChar char="●"/>
            </a:pPr>
            <a:r>
              <a:rPr lang="en" sz="1367">
                <a:solidFill>
                  <a:schemeClr val="dk1"/>
                </a:solidFill>
              </a:rPr>
              <a:t>IoT systems generate enormous volumes of information. This data will be useless until the system learns how to transform data streams into valuable insights.</a:t>
            </a:r>
            <a:endParaRPr sz="1367">
              <a:solidFill>
                <a:schemeClr val="dk1"/>
              </a:solidFill>
            </a:endParaRPr>
          </a:p>
          <a:p>
            <a:pPr indent="-315445" lvl="0" marL="457200" rtl="0" algn="l">
              <a:lnSpc>
                <a:spcPct val="155555"/>
              </a:lnSpc>
              <a:spcBef>
                <a:spcPts val="0"/>
              </a:spcBef>
              <a:spcAft>
                <a:spcPts val="0"/>
              </a:spcAft>
              <a:buClr>
                <a:schemeClr val="dk1"/>
              </a:buClr>
              <a:buSzPts val="1368"/>
              <a:buChar char="●"/>
            </a:pPr>
            <a:r>
              <a:rPr lang="en" sz="1367">
                <a:solidFill>
                  <a:schemeClr val="dk1"/>
                </a:solidFill>
              </a:rPr>
              <a:t> It is up to effective data management and analysis whether the IoT system will generate value or just become a data warehouse.</a:t>
            </a:r>
            <a:endParaRPr sz="17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7"/>
          <p:cNvSpPr txBox="1"/>
          <p:nvPr>
            <p:ph type="title"/>
          </p:nvPr>
        </p:nvSpPr>
        <p:spPr>
          <a:xfrm>
            <a:off x="194075" y="252550"/>
            <a:ext cx="8520600" cy="572700"/>
          </a:xfrm>
          <a:prstGeom prst="rect">
            <a:avLst/>
          </a:prstGeom>
        </p:spPr>
        <p:txBody>
          <a:bodyPr anchorCtr="0" anchor="t" bIns="91425" lIns="91425" spcFirstLastPara="1" rIns="91425" wrap="square" tIns="91425">
            <a:noAutofit/>
          </a:bodyPr>
          <a:lstStyle/>
          <a:p>
            <a:pPr indent="1270" lvl="0" marL="0" rtl="0" algn="just">
              <a:spcBef>
                <a:spcPts val="0"/>
              </a:spcBef>
              <a:spcAft>
                <a:spcPts val="0"/>
              </a:spcAft>
              <a:buClr>
                <a:schemeClr val="dk1"/>
              </a:buClr>
              <a:buSzPts val="1100"/>
              <a:buFont typeface="Arial"/>
              <a:buNone/>
            </a:pPr>
            <a:r>
              <a:rPr lang="en" sz="3000"/>
              <a:t> An IoT architecture outline</a:t>
            </a:r>
            <a:endParaRPr sz="3000"/>
          </a:p>
        </p:txBody>
      </p:sp>
      <p:sp>
        <p:nvSpPr>
          <p:cNvPr id="130" name="Google Shape;130;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The complex arrangement of elements that make up IoT networking systems, including sensors, actuators, cloud services, protocols, and layers, is referred to as IoT architecture. </a:t>
            </a:r>
            <a:endParaRPr/>
          </a:p>
          <a:p>
            <a:pPr indent="0" lvl="0" marL="0" rtl="0" algn="l">
              <a:spcBef>
                <a:spcPts val="1200"/>
              </a:spcBef>
              <a:spcAft>
                <a:spcPts val="0"/>
              </a:spcAft>
              <a:buClr>
                <a:schemeClr val="dk1"/>
              </a:buClr>
              <a:buSzPts val="1100"/>
              <a:buFont typeface="Arial"/>
              <a:buNone/>
            </a:pPr>
            <a:r>
              <a:rPr lang="en"/>
              <a:t>Different layers of IoT architecture</a:t>
            </a:r>
            <a:endParaRPr/>
          </a:p>
          <a:p>
            <a:pPr indent="0" lvl="0" marL="0" rtl="0" algn="l">
              <a:spcBef>
                <a:spcPts val="1200"/>
              </a:spcBef>
              <a:spcAft>
                <a:spcPts val="0"/>
              </a:spcAft>
              <a:buClr>
                <a:schemeClr val="dk1"/>
              </a:buClr>
              <a:buSzPts val="1100"/>
              <a:buFont typeface="Arial"/>
              <a:buNone/>
            </a:pPr>
            <a:r>
              <a:rPr lang="en"/>
              <a:t> Depending on the particular business job at hand, different architectural layers and levels of complexity are used. The most common and standard architecture is a four-layer one.</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8"/>
          <p:cNvPicPr preferRelativeResize="0"/>
          <p:nvPr/>
        </p:nvPicPr>
        <p:blipFill>
          <a:blip r:embed="rId3">
            <a:alphaModFix/>
          </a:blip>
          <a:stretch>
            <a:fillRect/>
          </a:stretch>
        </p:blipFill>
        <p:spPr>
          <a:xfrm>
            <a:off x="2370475" y="510650"/>
            <a:ext cx="4266650" cy="3355900"/>
          </a:xfrm>
          <a:prstGeom prst="rect">
            <a:avLst/>
          </a:prstGeom>
          <a:noFill/>
          <a:ln>
            <a:noFill/>
          </a:ln>
        </p:spPr>
      </p:pic>
      <p:sp>
        <p:nvSpPr>
          <p:cNvPr id="136" name="Google Shape;136;p28"/>
          <p:cNvSpPr txBox="1"/>
          <p:nvPr/>
        </p:nvSpPr>
        <p:spPr>
          <a:xfrm>
            <a:off x="1469850" y="4138325"/>
            <a:ext cx="6204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As you can see from the above image, there are four layers present i.e., the Perception Layer, Network Layer, Processing Layer, and Application Layer.</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2000"/>
              <a:t>Perception/ Sensing layer:</a:t>
            </a:r>
            <a:endParaRPr sz="2000"/>
          </a:p>
          <a:p>
            <a:pPr indent="-342900" lvl="0" marL="457200" rtl="0" algn="l">
              <a:spcBef>
                <a:spcPts val="1200"/>
              </a:spcBef>
              <a:spcAft>
                <a:spcPts val="0"/>
              </a:spcAft>
              <a:buSzPts val="1800"/>
              <a:buChar char="●"/>
            </a:pPr>
            <a:r>
              <a:rPr lang="en"/>
              <a:t>Any IoT system's first layer is made up of "things" or endpoint devices that act as a link between the real world and the digital one. </a:t>
            </a:r>
            <a:endParaRPr/>
          </a:p>
          <a:p>
            <a:pPr indent="-342900" lvl="0" marL="457200" rtl="0" algn="l">
              <a:spcBef>
                <a:spcPts val="0"/>
              </a:spcBef>
              <a:spcAft>
                <a:spcPts val="0"/>
              </a:spcAft>
              <a:buSzPts val="1800"/>
              <a:buChar char="●"/>
            </a:pPr>
            <a:r>
              <a:rPr lang="en"/>
              <a:t>The physical layer, which contains sensors and actuators capable of gathering, accepting, and processing data across a network, is referred to as perception. </a:t>
            </a:r>
            <a:endParaRPr/>
          </a:p>
          <a:p>
            <a:pPr indent="-342900" lvl="0" marL="457200" rtl="0" algn="l">
              <a:spcBef>
                <a:spcPts val="0"/>
              </a:spcBef>
              <a:spcAft>
                <a:spcPts val="0"/>
              </a:spcAft>
              <a:buSzPts val="1800"/>
              <a:buChar char="●"/>
            </a:pPr>
            <a:r>
              <a:rPr lang="en"/>
              <a:t>Wireless or wired connections can be used to connect sensors and actuators. The components' range and locations are not constrained by the design.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Clr>
                <a:schemeClr val="dk1"/>
              </a:buClr>
              <a:buSzPct val="46059"/>
              <a:buFont typeface="Arial"/>
              <a:buNone/>
            </a:pPr>
            <a:r>
              <a:rPr b="1" lang="en" sz="2388"/>
              <a:t>Network layer</a:t>
            </a:r>
            <a:endParaRPr b="1" sz="2388"/>
          </a:p>
          <a:p>
            <a:pPr indent="-325755" lvl="0" marL="457200" rtl="0" algn="l">
              <a:spcBef>
                <a:spcPts val="1200"/>
              </a:spcBef>
              <a:spcAft>
                <a:spcPts val="0"/>
              </a:spcAft>
              <a:buSzPct val="100000"/>
              <a:buChar char="●"/>
            </a:pPr>
            <a:r>
              <a:rPr lang="en"/>
              <a:t>An overview of the data flow throughout the programme is given by the  network  layers.  Data  Acquisition  Systems  (DAS)  and Internet/Network gateways are present in this tier. </a:t>
            </a:r>
            <a:endParaRPr/>
          </a:p>
          <a:p>
            <a:pPr indent="-325755" lvl="0" marL="457200" rtl="0" algn="l">
              <a:spcBef>
                <a:spcPts val="0"/>
              </a:spcBef>
              <a:spcAft>
                <a:spcPts val="0"/>
              </a:spcAft>
              <a:buSzPct val="100000"/>
              <a:buChar char="●"/>
            </a:pPr>
            <a:r>
              <a:rPr lang="en"/>
              <a:t>Data aggregation and conversion tasks are carried out by a DAS (collecting and aggregating data from sensors, then converting analogue data to digital data, etc.). </a:t>
            </a:r>
            <a:endParaRPr/>
          </a:p>
          <a:p>
            <a:pPr indent="-325755" lvl="0" marL="457200" rtl="0" algn="l">
              <a:spcBef>
                <a:spcPts val="0"/>
              </a:spcBef>
              <a:spcAft>
                <a:spcPts val="0"/>
              </a:spcAft>
              <a:buSzPct val="100000"/>
              <a:buChar char="●"/>
            </a:pPr>
            <a:r>
              <a:rPr lang="en"/>
              <a:t>Data gathered by the sensor devices must be transmitted and processed. The network layer performs that function. </a:t>
            </a:r>
            <a:endParaRPr/>
          </a:p>
          <a:p>
            <a:pPr indent="-325755" lvl="0" marL="457200" rtl="0" algn="l">
              <a:spcBef>
                <a:spcPts val="0"/>
              </a:spcBef>
              <a:spcAft>
                <a:spcPts val="0"/>
              </a:spcAft>
              <a:buSzPct val="100000"/>
              <a:buChar char="●"/>
            </a:pPr>
            <a:r>
              <a:rPr lang="en"/>
              <a:t>It enables connections and communication between these gadgets and other servers, smart gadgets, and network gadgets. Also, it manages each device's data transmission.</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sz="2388"/>
              <a:t>Processing layer</a:t>
            </a:r>
            <a:endParaRPr b="1" sz="2388"/>
          </a:p>
          <a:p>
            <a:pPr indent="0" lvl="0" marL="0" rtl="0" algn="l">
              <a:spcBef>
                <a:spcPts val="1200"/>
              </a:spcBef>
              <a:spcAft>
                <a:spcPts val="0"/>
              </a:spcAft>
              <a:buNone/>
            </a:pPr>
            <a:r>
              <a:t/>
            </a:r>
            <a:endParaRPr/>
          </a:p>
          <a:p>
            <a:pPr indent="-327582" lvl="0" marL="457200" rtl="0" algn="l">
              <a:spcBef>
                <a:spcPts val="1200"/>
              </a:spcBef>
              <a:spcAft>
                <a:spcPts val="0"/>
              </a:spcAft>
              <a:buSzPct val="85940"/>
              <a:buChar char="●"/>
            </a:pPr>
            <a:r>
              <a:rPr lang="en" sz="2133"/>
              <a:t>The IoT </a:t>
            </a:r>
            <a:r>
              <a:rPr lang="en" sz="2133"/>
              <a:t>ecosystem</a:t>
            </a:r>
            <a:r>
              <a:rPr lang="en" sz="2133"/>
              <a:t> processing layer functions as its brain. </a:t>
            </a:r>
            <a:endParaRPr sz="2133"/>
          </a:p>
          <a:p>
            <a:pPr indent="-327582" lvl="0" marL="457200" rtl="0" algn="l">
              <a:spcBef>
                <a:spcPts val="0"/>
              </a:spcBef>
              <a:spcAft>
                <a:spcPts val="0"/>
              </a:spcAft>
              <a:buSzPct val="85940"/>
              <a:buChar char="●"/>
            </a:pPr>
            <a:r>
              <a:rPr lang="en" sz="2133"/>
              <a:t>Before being transported to the data center, data is typically evaluated, pre- processed,  and  stored  here.  </a:t>
            </a:r>
            <a:endParaRPr sz="2133"/>
          </a:p>
          <a:p>
            <a:pPr indent="-327582" lvl="0" marL="457200" rtl="0" algn="l">
              <a:spcBef>
                <a:spcPts val="0"/>
              </a:spcBef>
              <a:spcAft>
                <a:spcPts val="0"/>
              </a:spcAft>
              <a:buSzPct val="85940"/>
              <a:buChar char="●"/>
            </a:pPr>
            <a:r>
              <a:rPr lang="en" sz="2133"/>
              <a:t>It  is  then  retrieved  by  software applications that handle the data and prepare future actions. </a:t>
            </a:r>
            <a:endParaRPr sz="2133"/>
          </a:p>
          <a:p>
            <a:pPr indent="-327582" lvl="0" marL="457200" rtl="0" algn="l">
              <a:spcBef>
                <a:spcPts val="0"/>
              </a:spcBef>
              <a:spcAft>
                <a:spcPts val="0"/>
              </a:spcAft>
              <a:buSzPct val="85940"/>
              <a:buChar char="●"/>
            </a:pPr>
            <a:r>
              <a:rPr lang="en" sz="2133"/>
              <a:t>This is where edge analytics or edge IT comes into play.</a:t>
            </a:r>
            <a:endParaRPr sz="2133"/>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2000"/>
              <a:t>Application layer</a:t>
            </a:r>
            <a:endParaRPr b="1" sz="2000"/>
          </a:p>
          <a:p>
            <a:pPr indent="0" lvl="0" marL="0" rtl="0" algn="l">
              <a:spcBef>
                <a:spcPts val="1200"/>
              </a:spcBef>
              <a:spcAft>
                <a:spcPts val="0"/>
              </a:spcAft>
              <a:buClr>
                <a:schemeClr val="dk1"/>
              </a:buClr>
              <a:buSzPts val="1100"/>
              <a:buFont typeface="Arial"/>
              <a:buNone/>
            </a:pPr>
            <a:r>
              <a:t/>
            </a:r>
            <a:endParaRPr/>
          </a:p>
          <a:p>
            <a:pPr indent="-342900" lvl="0" marL="457200" rtl="0" algn="l">
              <a:spcBef>
                <a:spcPts val="1200"/>
              </a:spcBef>
              <a:spcAft>
                <a:spcPts val="0"/>
              </a:spcAft>
              <a:buSzPts val="1800"/>
              <a:buChar char="●"/>
            </a:pPr>
            <a:r>
              <a:rPr lang="en"/>
              <a:t>The application layer, which provides the user with application- specific services, is where user interaction occurs. </a:t>
            </a:r>
            <a:endParaRPr/>
          </a:p>
          <a:p>
            <a:pPr indent="-342900" lvl="0" marL="457200" rtl="0" algn="l">
              <a:spcBef>
                <a:spcPts val="0"/>
              </a:spcBef>
              <a:spcAft>
                <a:spcPts val="0"/>
              </a:spcAft>
              <a:buSzPts val="1800"/>
              <a:buChar char="●"/>
            </a:pPr>
            <a:r>
              <a:rPr lang="en"/>
              <a:t>A dashboard that displays the status of the devices in a system or a smart home application where users may turn on a coffee maker by touching a button in an app are two examples. </a:t>
            </a:r>
            <a:endParaRPr/>
          </a:p>
          <a:p>
            <a:pPr indent="-342900" lvl="0" marL="457200" rtl="0" algn="l">
              <a:spcBef>
                <a:spcPts val="0"/>
              </a:spcBef>
              <a:spcAft>
                <a:spcPts val="0"/>
              </a:spcAft>
              <a:buSzPts val="1800"/>
              <a:buChar char="●"/>
            </a:pPr>
            <a:r>
              <a:rPr lang="en"/>
              <a:t>The Internet of Things can be used in a variety of applications, including smart homes, smart cities, and smart health.</a:t>
            </a:r>
            <a:endParaRPr/>
          </a:p>
          <a:p>
            <a:pPr indent="0" lvl="0" marL="0" rtl="0" algn="l">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3"/>
          <p:cNvSpPr txBox="1"/>
          <p:nvPr>
            <p:ph idx="1" type="body"/>
          </p:nvPr>
        </p:nvSpPr>
        <p:spPr>
          <a:xfrm>
            <a:off x="311700" y="881125"/>
            <a:ext cx="8520600" cy="3687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t>Stages of IoT solutions architecture </a:t>
            </a:r>
            <a:endParaRPr b="1" sz="2000"/>
          </a:p>
          <a:p>
            <a:pPr indent="0" lvl="0" marL="0" rtl="0" algn="l">
              <a:spcBef>
                <a:spcPts val="1200"/>
              </a:spcBef>
              <a:spcAft>
                <a:spcPts val="0"/>
              </a:spcAft>
              <a:buClr>
                <a:schemeClr val="dk1"/>
              </a:buClr>
              <a:buSzPts val="1100"/>
              <a:buFont typeface="Arial"/>
              <a:buNone/>
            </a:pPr>
            <a:r>
              <a:rPr lang="en"/>
              <a:t>The various phases of IoT architecture implementation in businesses are as follows:</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pic>
        <p:nvPicPr>
          <p:cNvPr id="162" name="Google Shape;162;p33"/>
          <p:cNvPicPr preferRelativeResize="0"/>
          <p:nvPr/>
        </p:nvPicPr>
        <p:blipFill>
          <a:blip r:embed="rId3">
            <a:alphaModFix/>
          </a:blip>
          <a:stretch>
            <a:fillRect/>
          </a:stretch>
        </p:blipFill>
        <p:spPr>
          <a:xfrm>
            <a:off x="1373475" y="2397963"/>
            <a:ext cx="5734050" cy="14382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4"/>
          <p:cNvSpPr txBox="1"/>
          <p:nvPr>
            <p:ph idx="1" type="body"/>
          </p:nvPr>
        </p:nvSpPr>
        <p:spPr>
          <a:xfrm>
            <a:off x="311700" y="891825"/>
            <a:ext cx="8520600" cy="3677100"/>
          </a:xfrm>
          <a:prstGeom prst="rect">
            <a:avLst/>
          </a:prstGeom>
        </p:spPr>
        <p:txBody>
          <a:bodyPr anchorCtr="0" anchor="t" bIns="91425" lIns="91425" spcFirstLastPara="1" rIns="91425" wrap="square" tIns="91425">
            <a:normAutofit fontScale="47500" lnSpcReduction="10000"/>
          </a:bodyPr>
          <a:lstStyle/>
          <a:p>
            <a:pPr indent="0" lvl="0" marL="0" rtl="0" algn="l">
              <a:spcBef>
                <a:spcPts val="0"/>
              </a:spcBef>
              <a:spcAft>
                <a:spcPts val="0"/>
              </a:spcAft>
              <a:buNone/>
            </a:pPr>
            <a:r>
              <a:rPr b="1" lang="en" sz="4171"/>
              <a:t>Connected objects/devices</a:t>
            </a:r>
            <a:endParaRPr b="1" sz="4171"/>
          </a:p>
          <a:p>
            <a:pPr indent="0" lvl="0" marL="0" rtl="0" algn="l">
              <a:spcBef>
                <a:spcPts val="1200"/>
              </a:spcBef>
              <a:spcAft>
                <a:spcPts val="0"/>
              </a:spcAft>
              <a:buClr>
                <a:schemeClr val="dk1"/>
              </a:buClr>
              <a:buSzPct val="61111"/>
              <a:buFont typeface="Arial"/>
              <a:buNone/>
            </a:pPr>
            <a:r>
              <a:t/>
            </a:r>
            <a:endParaRPr/>
          </a:p>
          <a:p>
            <a:pPr indent="-326628" lvl="0" marL="457200" rtl="0" algn="just">
              <a:lnSpc>
                <a:spcPct val="130000"/>
              </a:lnSpc>
              <a:spcBef>
                <a:spcPts val="1200"/>
              </a:spcBef>
              <a:spcAft>
                <a:spcPts val="0"/>
              </a:spcAft>
              <a:buSzPct val="100000"/>
              <a:buChar char="●"/>
            </a:pPr>
            <a:r>
              <a:rPr lang="en" sz="3250"/>
              <a:t>The physical layer within the environment must be built as a first step towards IoT architecture. The Internet of Things would not exist without "smart" or linked objects. </a:t>
            </a:r>
            <a:endParaRPr sz="3250"/>
          </a:p>
          <a:p>
            <a:pPr indent="-326628" lvl="0" marL="457200" rtl="0" algn="just">
              <a:lnSpc>
                <a:spcPct val="130000"/>
              </a:lnSpc>
              <a:spcBef>
                <a:spcPts val="0"/>
              </a:spcBef>
              <a:spcAft>
                <a:spcPts val="0"/>
              </a:spcAft>
              <a:buSzPct val="100000"/>
              <a:buChar char="●"/>
            </a:pPr>
            <a:r>
              <a:rPr lang="en" sz="3250"/>
              <a:t>On the perception layer, these are frequently wireless sensors or actuators.</a:t>
            </a:r>
            <a:endParaRPr sz="3250"/>
          </a:p>
          <a:p>
            <a:pPr indent="-326628" lvl="0" marL="457200" rtl="0" algn="just">
              <a:lnSpc>
                <a:spcPct val="130000"/>
              </a:lnSpc>
              <a:spcBef>
                <a:spcPts val="0"/>
              </a:spcBef>
              <a:spcAft>
                <a:spcPts val="0"/>
              </a:spcAft>
              <a:buSzPct val="100000"/>
              <a:buChar char="●"/>
            </a:pPr>
            <a:r>
              <a:rPr lang="en" sz="3250"/>
              <a:t>Sensors gather and process environmental data to make it useful for additional research. </a:t>
            </a:r>
            <a:endParaRPr sz="3250"/>
          </a:p>
          <a:p>
            <a:pPr indent="-326628" lvl="0" marL="457200" rtl="0" algn="just">
              <a:lnSpc>
                <a:spcPct val="130000"/>
              </a:lnSpc>
              <a:spcBef>
                <a:spcPts val="0"/>
              </a:spcBef>
              <a:spcAft>
                <a:spcPts val="0"/>
              </a:spcAft>
              <a:buSzPct val="100000"/>
              <a:buChar char="●"/>
            </a:pPr>
            <a:r>
              <a:rPr lang="en" sz="3250"/>
              <a:t>The change that the sensors register is measured by actuators. </a:t>
            </a:r>
            <a:endParaRPr sz="3250"/>
          </a:p>
          <a:p>
            <a:pPr indent="-326628" lvl="0" marL="457200" rtl="0" algn="just">
              <a:lnSpc>
                <a:spcPct val="130000"/>
              </a:lnSpc>
              <a:spcBef>
                <a:spcPts val="0"/>
              </a:spcBef>
              <a:spcAft>
                <a:spcPts val="0"/>
              </a:spcAft>
              <a:buSzPct val="100000"/>
              <a:buChar char="●"/>
            </a:pPr>
            <a:r>
              <a:rPr lang="en" sz="3250"/>
              <a:t>Wired or wireless connections can be made between sensors and actuators to accomplish sensing and actuation. Sensors and actuators can be connected using Personal Area Networks (PANs) and Local Area Networks (LANs).</a:t>
            </a:r>
            <a:endParaRPr sz="3250"/>
          </a:p>
          <a:p>
            <a:pPr indent="0" lvl="0" marL="0" rtl="0" algn="l">
              <a:spcBef>
                <a:spcPts val="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5"/>
          <p:cNvSpPr txBox="1"/>
          <p:nvPr>
            <p:ph idx="1" type="body"/>
          </p:nvPr>
        </p:nvSpPr>
        <p:spPr>
          <a:xfrm>
            <a:off x="354475" y="457400"/>
            <a:ext cx="8520600" cy="430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2000"/>
              <a:t>Internet gateway</a:t>
            </a:r>
            <a:endParaRPr b="1" sz="2000"/>
          </a:p>
          <a:p>
            <a:pPr indent="-342900" lvl="0" marL="457200" rtl="0" algn="l">
              <a:spcBef>
                <a:spcPts val="1200"/>
              </a:spcBef>
              <a:spcAft>
                <a:spcPts val="0"/>
              </a:spcAft>
              <a:buSzPts val="1800"/>
              <a:buChar char="●"/>
            </a:pPr>
            <a:r>
              <a:rPr lang="en"/>
              <a:t>After properly completing step one, the next task is to set up an internet gateway. </a:t>
            </a:r>
            <a:endParaRPr/>
          </a:p>
          <a:p>
            <a:pPr indent="-342900" lvl="0" marL="457200" rtl="0" algn="l">
              <a:spcBef>
                <a:spcPts val="0"/>
              </a:spcBef>
              <a:spcAft>
                <a:spcPts val="0"/>
              </a:spcAft>
              <a:buSzPts val="1800"/>
              <a:buChar char="●"/>
            </a:pPr>
            <a:r>
              <a:rPr lang="en"/>
              <a:t>We need a way to convert analogue data that is being collected by the sensors and actuators into digital data so that we can process it. </a:t>
            </a:r>
            <a:endParaRPr/>
          </a:p>
          <a:p>
            <a:pPr indent="-342900" lvl="0" marL="457200" rtl="0" algn="l">
              <a:spcBef>
                <a:spcPts val="0"/>
              </a:spcBef>
              <a:spcAft>
                <a:spcPts val="0"/>
              </a:spcAft>
              <a:buSzPts val="1800"/>
              <a:buChar char="●"/>
            </a:pPr>
            <a:r>
              <a:rPr lang="en"/>
              <a:t>The internet gateway is used to do this activity. </a:t>
            </a:r>
            <a:endParaRPr/>
          </a:p>
          <a:p>
            <a:pPr indent="-342900" lvl="0" marL="457200" rtl="0" algn="l">
              <a:spcBef>
                <a:spcPts val="0"/>
              </a:spcBef>
              <a:spcAft>
                <a:spcPts val="0"/>
              </a:spcAft>
              <a:buSzPts val="1800"/>
              <a:buChar char="●"/>
            </a:pPr>
            <a:r>
              <a:rPr lang="en"/>
              <a:t>Before being transferred to the cloud, raw data from the devices will be received at the internet gateway stage and pre-processed.</a:t>
            </a:r>
            <a:endParaRPr/>
          </a:p>
          <a:p>
            <a:pPr indent="-342900" lvl="0" marL="457200" rtl="0" algn="l">
              <a:spcBef>
                <a:spcPts val="0"/>
              </a:spcBef>
              <a:spcAft>
                <a:spcPts val="0"/>
              </a:spcAft>
              <a:buSzPts val="1800"/>
              <a:buChar char="●"/>
            </a:pPr>
            <a:r>
              <a:rPr lang="en" sz="1900"/>
              <a:t>Analog  data  can  be  transformed  into  digital  data  using  data acquisition systems.</a:t>
            </a:r>
            <a:endParaRPr/>
          </a:p>
          <a:p>
            <a:pPr indent="0" lvl="0" marL="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6"/>
          <p:cNvSpPr txBox="1"/>
          <p:nvPr>
            <p:ph idx="1" type="body"/>
          </p:nvPr>
        </p:nvSpPr>
        <p:spPr>
          <a:xfrm>
            <a:off x="311700" y="720750"/>
            <a:ext cx="8520600" cy="3377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It establishes connections with the sensors and actuators, collects all the data, and transforms it into digital form so that the internet gateway may send it across the network. </a:t>
            </a:r>
            <a:endParaRPr/>
          </a:p>
          <a:p>
            <a:pPr indent="-342900" lvl="0" marL="457200" rtl="0" algn="l">
              <a:spcBef>
                <a:spcPts val="0"/>
              </a:spcBef>
              <a:spcAft>
                <a:spcPts val="0"/>
              </a:spcAft>
              <a:buSzPts val="1800"/>
              <a:buChar char="●"/>
            </a:pPr>
            <a:r>
              <a:rPr lang="en"/>
              <a:t>It is in charge of conversion and data aggregation. </a:t>
            </a:r>
            <a:endParaRPr/>
          </a:p>
          <a:p>
            <a:pPr indent="-342900" lvl="0" marL="457200" rtl="0" algn="l">
              <a:spcBef>
                <a:spcPts val="0"/>
              </a:spcBef>
              <a:spcAft>
                <a:spcPts val="0"/>
              </a:spcAft>
              <a:buSzPts val="1800"/>
              <a:buChar char="●"/>
            </a:pPr>
            <a:r>
              <a:rPr lang="en"/>
              <a:t>To improve performance and effectiveness, we can also add extra features like analytics and security.</a:t>
            </a:r>
            <a:endParaRPr/>
          </a:p>
          <a:p>
            <a:pPr indent="0" lvl="0" marL="0" rtl="0" algn="l">
              <a:spcBef>
                <a:spcPts val="1200"/>
              </a:spcBef>
              <a:spcAft>
                <a:spcPts val="0"/>
              </a:spcAft>
              <a:buClr>
                <a:schemeClr val="dk1"/>
              </a:buClr>
              <a:buSzPts val="1100"/>
              <a:buFont typeface="Arial"/>
              <a:buNone/>
            </a:pPr>
            <a:r>
              <a:t/>
            </a:r>
            <a:endParaRPr b="1"/>
          </a:p>
          <a:p>
            <a:pPr indent="0" lvl="0" marL="0" rtl="0" algn="l">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40000"/>
          </a:bodyPr>
          <a:lstStyle/>
          <a:p>
            <a:pPr indent="0" lvl="0" marL="0" rtl="0" algn="l">
              <a:spcBef>
                <a:spcPts val="0"/>
              </a:spcBef>
              <a:spcAft>
                <a:spcPts val="0"/>
              </a:spcAft>
              <a:buClr>
                <a:schemeClr val="dk1"/>
              </a:buClr>
              <a:buSzPct val="26050"/>
              <a:buFont typeface="Arial"/>
              <a:buNone/>
            </a:pPr>
            <a:r>
              <a:rPr b="1" lang="en" sz="4222"/>
              <a:t>Edge IT systems</a:t>
            </a:r>
            <a:endParaRPr b="1" sz="4222"/>
          </a:p>
          <a:p>
            <a:pPr indent="-323850" lvl="0" marL="457200" rtl="0" algn="l">
              <a:spcBef>
                <a:spcPts val="1200"/>
              </a:spcBef>
              <a:spcAft>
                <a:spcPts val="0"/>
              </a:spcAft>
              <a:buSzPct val="100000"/>
              <a:buChar char="●"/>
            </a:pPr>
            <a:r>
              <a:rPr lang="en" sz="3750"/>
              <a:t>Pre-processing and improved data analytics are part of the third stage of an IoT architecture. </a:t>
            </a:r>
            <a:endParaRPr sz="3750"/>
          </a:p>
          <a:p>
            <a:pPr indent="-323850" lvl="0" marL="457200" rtl="0" algn="l">
              <a:spcBef>
                <a:spcPts val="0"/>
              </a:spcBef>
              <a:spcAft>
                <a:spcPts val="0"/>
              </a:spcAft>
              <a:buSzPct val="100000"/>
              <a:buChar char="●"/>
            </a:pPr>
            <a:r>
              <a:rPr lang="en" sz="3750"/>
              <a:t>Edge IT systems are essential in easing the burden on the main IT infrastructure due to the sizeable volume of data  collected  by  IoT  systems  and  the  ensuing  bandwidth requirements. </a:t>
            </a:r>
            <a:endParaRPr sz="3750"/>
          </a:p>
          <a:p>
            <a:pPr indent="-323850" lvl="0" marL="457200" rtl="0" algn="l">
              <a:spcBef>
                <a:spcPts val="0"/>
              </a:spcBef>
              <a:spcAft>
                <a:spcPts val="0"/>
              </a:spcAft>
              <a:buSzPct val="100000"/>
              <a:buChar char="●"/>
            </a:pPr>
            <a:r>
              <a:rPr lang="en" sz="3750"/>
              <a:t>Machine learning and visualization techniques are used by edge IT systems to derive insights from gathered data. </a:t>
            </a:r>
            <a:endParaRPr sz="3750"/>
          </a:p>
          <a:p>
            <a:pPr indent="-323850" lvl="0" marL="457200" rtl="0" algn="l">
              <a:spcBef>
                <a:spcPts val="0"/>
              </a:spcBef>
              <a:spcAft>
                <a:spcPts val="0"/>
              </a:spcAft>
              <a:buSzPct val="100000"/>
              <a:buChar char="●"/>
            </a:pPr>
            <a:r>
              <a:rPr lang="en" sz="3750"/>
              <a:t>While visualization tools make the data more comprehensible, machine learning algorithms offer insights into the data.</a:t>
            </a:r>
            <a:endParaRPr sz="3750"/>
          </a:p>
          <a:p>
            <a:pPr indent="-323850" lvl="0" marL="457200" rtl="0" algn="l">
              <a:spcBef>
                <a:spcPts val="0"/>
              </a:spcBef>
              <a:spcAft>
                <a:spcPts val="0"/>
              </a:spcAft>
              <a:buSzPct val="100000"/>
              <a:buChar char="●"/>
            </a:pPr>
            <a:r>
              <a:rPr lang="en" sz="3750"/>
              <a:t>The system's speed, as well as the LAN or routers' bandwidth, would suffer if data is sent directly to the server or data center. </a:t>
            </a:r>
            <a:endParaRPr sz="375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The system's speed, as well as the LAN or routers' bandwidth, would suffer if data is sent directly to the server or data center. </a:t>
            </a:r>
            <a:endParaRPr sz="1600"/>
          </a:p>
          <a:p>
            <a:pPr indent="-330200" lvl="0" marL="457200" rtl="0" algn="l">
              <a:spcBef>
                <a:spcPts val="0"/>
              </a:spcBef>
              <a:spcAft>
                <a:spcPts val="0"/>
              </a:spcAft>
              <a:buSzPts val="1600"/>
              <a:buChar char="●"/>
            </a:pPr>
            <a:r>
              <a:rPr lang="en" sz="1600"/>
              <a:t>Analog data is produced very quickly and takes up a lot of storage space. As a result, it is always advised to convert data to digital format. </a:t>
            </a:r>
            <a:endParaRPr sz="1600"/>
          </a:p>
          <a:p>
            <a:pPr indent="-330200" lvl="0" marL="457200" rtl="0" algn="l">
              <a:spcBef>
                <a:spcPts val="0"/>
              </a:spcBef>
              <a:spcAft>
                <a:spcPts val="0"/>
              </a:spcAft>
              <a:buSzPts val="1600"/>
              <a:buChar char="●"/>
            </a:pPr>
            <a:r>
              <a:rPr lang="en" sz="1600"/>
              <a:t>Only the necessary data is processed and communicated to data centers and servers because the majority of the data acquired by sensors and actuators is not valuable to the enterprise.</a:t>
            </a:r>
            <a:endParaRPr sz="1600"/>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Clr>
                <a:schemeClr val="dk1"/>
              </a:buClr>
              <a:buSzPct val="51781"/>
              <a:buFont typeface="Arial"/>
              <a:buNone/>
            </a:pPr>
            <a:r>
              <a:rPr b="1" lang="en" sz="2124"/>
              <a:t>Data centers and cloud storage</a:t>
            </a:r>
            <a:endParaRPr b="1" sz="2124"/>
          </a:p>
          <a:p>
            <a:pPr indent="-334327" lvl="0" marL="457200" rtl="0" algn="l">
              <a:spcBef>
                <a:spcPts val="1200"/>
              </a:spcBef>
              <a:spcAft>
                <a:spcPts val="0"/>
              </a:spcAft>
              <a:buSzPct val="100000"/>
              <a:buChar char="●"/>
            </a:pPr>
            <a:r>
              <a:rPr lang="en"/>
              <a:t>The data is delivered to the data centers and servers for final analysis and reporting once it has been appropriately preprocessed, examined, and any gaps have been filled. </a:t>
            </a:r>
            <a:endParaRPr/>
          </a:p>
          <a:p>
            <a:pPr indent="-334327" lvl="0" marL="457200" rtl="0" algn="l">
              <a:spcBef>
                <a:spcPts val="0"/>
              </a:spcBef>
              <a:spcAft>
                <a:spcPts val="0"/>
              </a:spcAft>
              <a:buSzPct val="100000"/>
              <a:buChar char="●"/>
            </a:pPr>
            <a:r>
              <a:rPr lang="en"/>
              <a:t>The management services area includes data centers and cloud services, which often handle data using analytics, device management, and security controls. </a:t>
            </a:r>
            <a:endParaRPr/>
          </a:p>
          <a:p>
            <a:pPr indent="-334327" lvl="0" marL="457200" rtl="0" algn="l">
              <a:spcBef>
                <a:spcPts val="0"/>
              </a:spcBef>
              <a:spcAft>
                <a:spcPts val="0"/>
              </a:spcAft>
              <a:buSzPct val="100000"/>
              <a:buChar char="●"/>
            </a:pPr>
            <a:r>
              <a:rPr lang="en"/>
              <a:t>Data can also be transferred  to  end-user  applications  like  healthcare,  retail, environment, emergency, energy, etc. thanks to the cloud.</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1270" lvl="0" marL="0" rtl="0" algn="just">
              <a:spcBef>
                <a:spcPts val="0"/>
              </a:spcBef>
              <a:spcAft>
                <a:spcPts val="0"/>
              </a:spcAft>
              <a:buClr>
                <a:schemeClr val="dk1"/>
              </a:buClr>
              <a:buSzPts val="1100"/>
              <a:buFont typeface="Arial"/>
              <a:buNone/>
            </a:pPr>
            <a:r>
              <a:rPr lang="en" sz="3000">
                <a:latin typeface="Calibri"/>
                <a:ea typeface="Calibri"/>
                <a:cs typeface="Calibri"/>
                <a:sym typeface="Calibri"/>
              </a:rPr>
              <a:t>Standards Considerations</a:t>
            </a:r>
            <a:endParaRPr sz="3000"/>
          </a:p>
        </p:txBody>
      </p:sp>
      <p:sp>
        <p:nvSpPr>
          <p:cNvPr id="198" name="Google Shape;198;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There are few considerations to make while creating </a:t>
            </a:r>
            <a:r>
              <a:rPr lang="en"/>
              <a:t>the Internet</a:t>
            </a:r>
            <a:r>
              <a:rPr lang="en"/>
              <a:t> of Things device:</a:t>
            </a:r>
            <a:endParaRPr/>
          </a:p>
          <a:p>
            <a:pPr indent="-323850" lvl="0" marL="457200" rtl="0" algn="l">
              <a:spcBef>
                <a:spcPts val="1200"/>
              </a:spcBef>
              <a:spcAft>
                <a:spcPts val="0"/>
              </a:spcAft>
              <a:buSzPts val="1500"/>
              <a:buAutoNum type="arabicPeriod"/>
            </a:pPr>
            <a:r>
              <a:rPr lang="en" sz="1500"/>
              <a:t>Cost</a:t>
            </a:r>
            <a:endParaRPr sz="1500"/>
          </a:p>
          <a:p>
            <a:pPr indent="-323850" lvl="0" marL="457200" rtl="0" algn="l">
              <a:spcBef>
                <a:spcPts val="0"/>
              </a:spcBef>
              <a:spcAft>
                <a:spcPts val="0"/>
              </a:spcAft>
              <a:buSzPts val="1500"/>
              <a:buAutoNum type="arabicPeriod"/>
            </a:pPr>
            <a:r>
              <a:rPr lang="en" sz="1500"/>
              <a:t>Network</a:t>
            </a:r>
            <a:endParaRPr sz="1500"/>
          </a:p>
          <a:p>
            <a:pPr indent="-323850" lvl="0" marL="457200" rtl="0" algn="l">
              <a:spcBef>
                <a:spcPts val="0"/>
              </a:spcBef>
              <a:spcAft>
                <a:spcPts val="0"/>
              </a:spcAft>
              <a:buSzPts val="1500"/>
              <a:buAutoNum type="arabicPeriod"/>
            </a:pPr>
            <a:r>
              <a:rPr lang="en" sz="1500"/>
              <a:t>Features</a:t>
            </a:r>
            <a:endParaRPr sz="1500"/>
          </a:p>
          <a:p>
            <a:pPr indent="-323850" lvl="0" marL="457200" rtl="0" algn="l">
              <a:spcBef>
                <a:spcPts val="0"/>
              </a:spcBef>
              <a:spcAft>
                <a:spcPts val="0"/>
              </a:spcAft>
              <a:buSzPts val="1500"/>
              <a:buAutoNum type="arabicPeriod"/>
            </a:pPr>
            <a:r>
              <a:rPr lang="en" sz="1500"/>
              <a:t>User interface</a:t>
            </a:r>
            <a:endParaRPr sz="1500"/>
          </a:p>
          <a:p>
            <a:pPr indent="-323850" lvl="0" marL="457200" rtl="0" algn="l">
              <a:spcBef>
                <a:spcPts val="0"/>
              </a:spcBef>
              <a:spcAft>
                <a:spcPts val="0"/>
              </a:spcAft>
              <a:buSzPts val="1500"/>
              <a:buAutoNum type="arabicPeriod"/>
            </a:pPr>
            <a:r>
              <a:rPr lang="en" sz="1500"/>
              <a:t>Power</a:t>
            </a:r>
            <a:endParaRPr sz="1500"/>
          </a:p>
          <a:p>
            <a:pPr indent="-323850" lvl="0" marL="457200" rtl="0" algn="l">
              <a:spcBef>
                <a:spcPts val="0"/>
              </a:spcBef>
              <a:spcAft>
                <a:spcPts val="0"/>
              </a:spcAft>
              <a:buSzPts val="1500"/>
              <a:buAutoNum type="arabicPeriod"/>
            </a:pPr>
            <a:r>
              <a:rPr lang="en" sz="1500"/>
              <a:t>Size</a:t>
            </a:r>
            <a:endParaRPr sz="1500"/>
          </a:p>
          <a:p>
            <a:pPr indent="-323850" lvl="0" marL="457200" rtl="0" algn="l">
              <a:spcBef>
                <a:spcPts val="0"/>
              </a:spcBef>
              <a:spcAft>
                <a:spcPts val="0"/>
              </a:spcAft>
              <a:buSzPts val="1500"/>
              <a:buAutoNum type="arabicPeriod"/>
            </a:pPr>
            <a:r>
              <a:rPr lang="en" sz="1500"/>
              <a:t>Cloud</a:t>
            </a:r>
            <a:endParaRPr sz="1500"/>
          </a:p>
          <a:p>
            <a:pPr indent="-323850" lvl="0" marL="457200" rtl="0" algn="l">
              <a:spcBef>
                <a:spcPts val="0"/>
              </a:spcBef>
              <a:spcAft>
                <a:spcPts val="0"/>
              </a:spcAft>
              <a:buSzPts val="1500"/>
              <a:buAutoNum type="arabicPeriod"/>
            </a:pPr>
            <a:r>
              <a:rPr lang="en" sz="1500"/>
              <a:t>Interoperability</a:t>
            </a:r>
            <a:endParaRPr sz="1500"/>
          </a:p>
          <a:p>
            <a:pPr indent="-323850" lvl="0" marL="457200" rtl="0" algn="l">
              <a:spcBef>
                <a:spcPts val="0"/>
              </a:spcBef>
              <a:spcAft>
                <a:spcPts val="0"/>
              </a:spcAft>
              <a:buSzPts val="1500"/>
              <a:buAutoNum type="arabicPeriod"/>
            </a:pPr>
            <a:r>
              <a:rPr lang="en" sz="1500"/>
              <a:t>Security</a:t>
            </a:r>
            <a:endParaRPr sz="15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41"/>
          <p:cNvSpPr txBox="1"/>
          <p:nvPr>
            <p:ph idx="1" type="body"/>
          </p:nvPr>
        </p:nvSpPr>
        <p:spPr>
          <a:xfrm>
            <a:off x="259975" y="9603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1.</a:t>
            </a:r>
            <a:r>
              <a:rPr lang="en" u="sng"/>
              <a:t>Cost</a:t>
            </a:r>
            <a:endParaRPr u="sng"/>
          </a:p>
          <a:p>
            <a:pPr indent="0" lvl="0" marL="0" rtl="0" algn="l">
              <a:spcBef>
                <a:spcPts val="1200"/>
              </a:spcBef>
              <a:spcAft>
                <a:spcPts val="0"/>
              </a:spcAft>
              <a:buClr>
                <a:schemeClr val="dk1"/>
              </a:buClr>
              <a:buSzPts val="1100"/>
              <a:buFont typeface="Arial"/>
              <a:buNone/>
            </a:pPr>
            <a:r>
              <a:rPr lang="en" sz="1508"/>
              <a:t>IoT or "smart" products benefit producers and customers equally, although they are more expensive. </a:t>
            </a:r>
            <a:endParaRPr sz="1508"/>
          </a:p>
          <a:p>
            <a:pPr indent="0" lvl="0" marL="0" rtl="0" algn="l">
              <a:spcBef>
                <a:spcPts val="1200"/>
              </a:spcBef>
              <a:spcAft>
                <a:spcPts val="0"/>
              </a:spcAft>
              <a:buNone/>
            </a:pPr>
            <a:r>
              <a:rPr lang="en"/>
              <a:t>2.</a:t>
            </a:r>
            <a:r>
              <a:rPr lang="en" u="sng"/>
              <a:t>Network</a:t>
            </a:r>
            <a:endParaRPr u="sng"/>
          </a:p>
          <a:p>
            <a:pPr indent="0" lvl="0" marL="0" rtl="0" algn="l">
              <a:spcBef>
                <a:spcPts val="1200"/>
              </a:spcBef>
              <a:spcAft>
                <a:spcPts val="1200"/>
              </a:spcAft>
              <a:buNone/>
            </a:pPr>
            <a:r>
              <a:rPr lang="en" sz="1500"/>
              <a:t>The network technology you choose for your IoT product has concerns with gateways and routers as well as distance. Ethernet/Wi- Fi is required if you need to connect to the Internet; ZigBee, Z-Wave, and Bluetooth are available if you are self-contained in a room or building.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just">
              <a:spcBef>
                <a:spcPts val="0"/>
              </a:spcBef>
              <a:spcAft>
                <a:spcPts val="0"/>
              </a:spcAft>
              <a:buClr>
                <a:schemeClr val="dk1"/>
              </a:buClr>
              <a:buSzPct val="61111"/>
              <a:buFont typeface="Arial"/>
              <a:buNone/>
            </a:pPr>
            <a:r>
              <a:rPr lang="en"/>
              <a:t>3.</a:t>
            </a:r>
            <a:r>
              <a:rPr lang="en" u="sng"/>
              <a:t>Features</a:t>
            </a:r>
            <a:endParaRPr u="sng"/>
          </a:p>
          <a:p>
            <a:pPr indent="0" lvl="0" marL="0" rtl="0" algn="just">
              <a:spcBef>
                <a:spcPts val="1200"/>
              </a:spcBef>
              <a:spcAft>
                <a:spcPts val="0"/>
              </a:spcAft>
              <a:buClr>
                <a:schemeClr val="dk1"/>
              </a:buClr>
              <a:buSzPct val="61111"/>
              <a:buFont typeface="Arial"/>
              <a:buNone/>
            </a:pPr>
            <a:r>
              <a:rPr lang="en"/>
              <a:t>Businesses may now add features to their products that were either impossible or unimaginable without an IoT-connected product. For updates, maintenance, and new revenue opportunities, you can obtain direct access to the consumer with the help of these capabilities.</a:t>
            </a:r>
            <a:endParaRPr/>
          </a:p>
          <a:p>
            <a:pPr indent="0" lvl="0" marL="0" rtl="0" algn="just">
              <a:spcBef>
                <a:spcPts val="1200"/>
              </a:spcBef>
              <a:spcAft>
                <a:spcPts val="0"/>
              </a:spcAft>
              <a:buNone/>
            </a:pPr>
            <a:r>
              <a:rPr lang="en"/>
              <a:t>4.</a:t>
            </a:r>
            <a:r>
              <a:rPr lang="en" u="sng"/>
              <a:t>User interface</a:t>
            </a:r>
            <a:endParaRPr u="sng"/>
          </a:p>
          <a:p>
            <a:pPr indent="0" lvl="0" marL="0" rtl="0" algn="just">
              <a:spcBef>
                <a:spcPts val="1200"/>
              </a:spcBef>
              <a:spcAft>
                <a:spcPts val="0"/>
              </a:spcAft>
              <a:buNone/>
            </a:pPr>
            <a:r>
              <a:rPr lang="en"/>
              <a:t>It matters how a user interacts with a product. On the product, are you intending to use buttons, LEDs, or a display? What web and app interfaces will you offer as well?</a:t>
            </a:r>
            <a:endParaRPr/>
          </a:p>
          <a:p>
            <a:pPr indent="0" lvl="0" marL="0" rtl="0" algn="just">
              <a:spcBef>
                <a:spcPts val="1200"/>
              </a:spcBef>
              <a:spcAft>
                <a:spcPts val="0"/>
              </a:spcAft>
              <a:buNone/>
            </a:pPr>
            <a:r>
              <a:rPr lang="en"/>
              <a:t>5.</a:t>
            </a:r>
            <a:r>
              <a:rPr lang="en" u="sng"/>
              <a:t>Power</a:t>
            </a:r>
            <a:endParaRPr u="sng"/>
          </a:p>
          <a:p>
            <a:pPr indent="0" lvl="0" marL="0" rtl="0" algn="just">
              <a:spcBef>
                <a:spcPts val="1200"/>
              </a:spcBef>
              <a:spcAft>
                <a:spcPts val="1200"/>
              </a:spcAft>
              <a:buNone/>
            </a:pPr>
            <a:r>
              <a:rPr lang="en"/>
              <a:t>The choice of a power source should be among the first. All design choices must take power conservation into account if the item will be battery-powered. Many networking technologies won't operate well on batteries. Power selection is also influenced by communication frequency.</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43"/>
          <p:cNvSpPr txBox="1"/>
          <p:nvPr>
            <p:ph idx="1" type="body"/>
          </p:nvPr>
        </p:nvSpPr>
        <p:spPr>
          <a:xfrm>
            <a:off x="311700" y="976875"/>
            <a:ext cx="8520600" cy="359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Clr>
                <a:schemeClr val="dk1"/>
              </a:buClr>
              <a:buSzPts val="1100"/>
              <a:buFont typeface="Arial"/>
              <a:buNone/>
            </a:pPr>
            <a:r>
              <a:rPr lang="en" sz="1400"/>
              <a:t>6.</a:t>
            </a:r>
            <a:r>
              <a:rPr lang="en" sz="1400" u="sng"/>
              <a:t>Size</a:t>
            </a:r>
            <a:endParaRPr sz="1400" u="sng"/>
          </a:p>
          <a:p>
            <a:pPr indent="0" lvl="0" marL="0" rtl="0" algn="just">
              <a:spcBef>
                <a:spcPts val="1200"/>
              </a:spcBef>
              <a:spcAft>
                <a:spcPts val="0"/>
              </a:spcAft>
              <a:buClr>
                <a:schemeClr val="dk1"/>
              </a:buClr>
              <a:buSzPts val="1100"/>
              <a:buFont typeface="Arial"/>
              <a:buNone/>
            </a:pPr>
            <a:r>
              <a:rPr lang="en" sz="1400"/>
              <a:t>Size does matter. Think about how the size of the device will be affected  by  the  network.  Certain  networks'  requirements  for connectors and antennae will increase the size.</a:t>
            </a:r>
            <a:endParaRPr sz="1400"/>
          </a:p>
          <a:p>
            <a:pPr indent="0" lvl="0" marL="0" rtl="0" algn="l">
              <a:spcBef>
                <a:spcPts val="1200"/>
              </a:spcBef>
              <a:spcAft>
                <a:spcPts val="0"/>
              </a:spcAft>
              <a:buClr>
                <a:schemeClr val="dk1"/>
              </a:buClr>
              <a:buSzPts val="1100"/>
              <a:buFont typeface="Arial"/>
              <a:buNone/>
            </a:pPr>
            <a:r>
              <a:rPr lang="en" sz="1400"/>
              <a:t>9. </a:t>
            </a:r>
            <a:r>
              <a:rPr lang="en" sz="1400" u="sng"/>
              <a:t>Interoperability</a:t>
            </a:r>
            <a:endParaRPr sz="1400" u="sng"/>
          </a:p>
          <a:p>
            <a:pPr indent="0" lvl="0" marL="0" rtl="0" algn="l">
              <a:spcBef>
                <a:spcPts val="1200"/>
              </a:spcBef>
              <a:spcAft>
                <a:spcPts val="0"/>
              </a:spcAft>
              <a:buClr>
                <a:schemeClr val="dk1"/>
              </a:buClr>
              <a:buSzPts val="1100"/>
              <a:buFont typeface="Arial"/>
              <a:buNone/>
            </a:pPr>
            <a:r>
              <a:rPr lang="en" sz="1400"/>
              <a:t>The ability of different IoT devices, platforms, or systems (made by different manufacturers) to work together and understand each other.</a:t>
            </a:r>
            <a:endParaRPr sz="1400"/>
          </a:p>
          <a:p>
            <a:pPr indent="0" lvl="0" marL="0" rtl="0" algn="l">
              <a:spcBef>
                <a:spcPts val="1200"/>
              </a:spcBef>
              <a:spcAft>
                <a:spcPts val="0"/>
              </a:spcAft>
              <a:buClr>
                <a:schemeClr val="dk1"/>
              </a:buClr>
              <a:buSzPts val="1100"/>
              <a:buFont typeface="Arial"/>
              <a:buNone/>
            </a:pPr>
            <a:r>
              <a:rPr lang="en" sz="1400"/>
              <a:t>10. </a:t>
            </a:r>
            <a:r>
              <a:rPr lang="en" sz="1400" u="sng"/>
              <a:t>Security</a:t>
            </a:r>
            <a:endParaRPr sz="1400" u="sng"/>
          </a:p>
          <a:p>
            <a:pPr indent="0" lvl="0" marL="0" rtl="0" algn="l">
              <a:spcBef>
                <a:spcPts val="1200"/>
              </a:spcBef>
              <a:spcAft>
                <a:spcPts val="1200"/>
              </a:spcAft>
              <a:buNone/>
            </a:pPr>
            <a:r>
              <a:rPr lang="en" sz="1400"/>
              <a:t>You must incorporate as many layers of security as you can because security is starting to become a serious concern. The bare minimum is SSL and a password.</a:t>
            </a:r>
            <a:endParaRPr sz="14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4"/>
          <p:cNvSpPr txBox="1"/>
          <p:nvPr>
            <p:ph type="title"/>
          </p:nvPr>
        </p:nvSpPr>
        <p:spPr>
          <a:xfrm>
            <a:off x="357375" y="1999050"/>
            <a:ext cx="8520600" cy="572700"/>
          </a:xfrm>
          <a:prstGeom prst="rect">
            <a:avLst/>
          </a:prstGeom>
        </p:spPr>
        <p:txBody>
          <a:bodyPr anchorCtr="0" anchor="t" bIns="91425" lIns="91425" spcFirstLastPara="1" rIns="91425" wrap="square" tIns="91425">
            <a:normAutofit fontScale="90000"/>
          </a:bodyPr>
          <a:lstStyle/>
          <a:p>
            <a:pPr indent="1270" lvl="0" marL="0" rtl="0" algn="ctr">
              <a:spcBef>
                <a:spcPts val="0"/>
              </a:spcBef>
              <a:spcAft>
                <a:spcPts val="0"/>
              </a:spcAft>
              <a:buClr>
                <a:schemeClr val="dk1"/>
              </a:buClr>
              <a:buSzPct val="36666"/>
              <a:buFont typeface="Arial"/>
              <a:buNone/>
            </a:pPr>
            <a:r>
              <a:rPr lang="en" sz="3000">
                <a:latin typeface="Calibri"/>
                <a:ea typeface="Calibri"/>
                <a:cs typeface="Calibri"/>
                <a:sym typeface="Calibri"/>
              </a:rPr>
              <a:t> M2M and IoT Technology Fundamentals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5"/>
          <p:cNvSpPr txBox="1"/>
          <p:nvPr>
            <p:ph idx="1" type="body"/>
          </p:nvPr>
        </p:nvSpPr>
        <p:spPr>
          <a:xfrm>
            <a:off x="311700" y="589800"/>
            <a:ext cx="8520600" cy="4373100"/>
          </a:xfrm>
          <a:prstGeom prst="rect">
            <a:avLst/>
          </a:prstGeom>
        </p:spPr>
        <p:txBody>
          <a:bodyPr anchorCtr="0" anchor="t" bIns="91425" lIns="91425" spcFirstLastPara="1" rIns="91425" wrap="square" tIns="91425">
            <a:normAutofit/>
          </a:bodyPr>
          <a:lstStyle/>
          <a:p>
            <a:pPr indent="1270" lvl="0" marL="0" rtl="0" algn="just">
              <a:lnSpc>
                <a:spcPct val="100000"/>
              </a:lnSpc>
              <a:spcBef>
                <a:spcPts val="0"/>
              </a:spcBef>
              <a:spcAft>
                <a:spcPts val="0"/>
              </a:spcAft>
              <a:buNone/>
            </a:pPr>
            <a:r>
              <a:rPr lang="en" sz="2200">
                <a:solidFill>
                  <a:schemeClr val="dk1"/>
                </a:solidFill>
                <a:latin typeface="Calibri"/>
                <a:ea typeface="Calibri"/>
                <a:cs typeface="Calibri"/>
                <a:sym typeface="Calibri"/>
              </a:rPr>
              <a:t>Devices and gateways:</a:t>
            </a:r>
            <a:endParaRPr sz="2200">
              <a:solidFill>
                <a:schemeClr val="dk1"/>
              </a:solidFill>
              <a:latin typeface="Calibri"/>
              <a:ea typeface="Calibri"/>
              <a:cs typeface="Calibri"/>
              <a:sym typeface="Calibri"/>
            </a:endParaRPr>
          </a:p>
          <a:p>
            <a:pPr indent="1270" lvl="0" marL="0" rtl="0" algn="just">
              <a:lnSpc>
                <a:spcPct val="100000"/>
              </a:lnSpc>
              <a:spcBef>
                <a:spcPts val="0"/>
              </a:spcBef>
              <a:spcAft>
                <a:spcPts val="0"/>
              </a:spcAft>
              <a:buNone/>
            </a:pPr>
            <a:r>
              <a:t/>
            </a:r>
            <a:endParaRPr sz="1500">
              <a:solidFill>
                <a:schemeClr val="dk1"/>
              </a:solidFill>
              <a:latin typeface="Calibri"/>
              <a:ea typeface="Calibri"/>
              <a:cs typeface="Calibri"/>
              <a:sym typeface="Calibri"/>
            </a:endParaRPr>
          </a:p>
          <a:p>
            <a:pPr indent="1270" lvl="0" marL="0" rtl="0" algn="just">
              <a:lnSpc>
                <a:spcPct val="115000"/>
              </a:lnSpc>
              <a:spcBef>
                <a:spcPts val="0"/>
              </a:spcBef>
              <a:spcAft>
                <a:spcPts val="0"/>
              </a:spcAft>
              <a:buNone/>
            </a:pPr>
            <a:r>
              <a:rPr lang="en" sz="1500">
                <a:solidFill>
                  <a:schemeClr val="dk1"/>
                </a:solidFill>
                <a:latin typeface="Calibri"/>
                <a:ea typeface="Calibri"/>
                <a:cs typeface="Calibri"/>
                <a:sym typeface="Calibri"/>
              </a:rPr>
              <a:t>A device is a hardware unit that can sense aspects of it’s environment and/or actuate, i.e.  perform tasks in its environment. </a:t>
            </a:r>
            <a:endParaRPr sz="1500">
              <a:solidFill>
                <a:schemeClr val="dk1"/>
              </a:solidFill>
              <a:latin typeface="Calibri"/>
              <a:ea typeface="Calibri"/>
              <a:cs typeface="Calibri"/>
              <a:sym typeface="Calibri"/>
            </a:endParaRPr>
          </a:p>
          <a:p>
            <a:pPr indent="1270" lvl="0" marL="0" rtl="0" algn="just">
              <a:lnSpc>
                <a:spcPct val="115000"/>
              </a:lnSpc>
              <a:spcBef>
                <a:spcPts val="0"/>
              </a:spcBef>
              <a:spcAft>
                <a:spcPts val="0"/>
              </a:spcAft>
              <a:buNone/>
            </a:pPr>
            <a:r>
              <a:rPr lang="en" sz="1500">
                <a:solidFill>
                  <a:schemeClr val="dk1"/>
                </a:solidFill>
                <a:latin typeface="Calibri"/>
                <a:ea typeface="Calibri"/>
                <a:cs typeface="Calibri"/>
                <a:sym typeface="Calibri"/>
              </a:rPr>
              <a:t>A device can have several properties, including: </a:t>
            </a:r>
            <a:endParaRPr sz="1500">
              <a:solidFill>
                <a:schemeClr val="dk1"/>
              </a:solidFill>
              <a:latin typeface="Calibri"/>
              <a:ea typeface="Calibri"/>
              <a:cs typeface="Calibri"/>
              <a:sym typeface="Calibri"/>
            </a:endParaRPr>
          </a:p>
          <a:p>
            <a:pPr indent="-317500" lvl="0" marL="457200" rtl="0" algn="just">
              <a:lnSpc>
                <a:spcPct val="115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Microcontroller: 8-, 16-, or 32-bit working memory and storage. </a:t>
            </a:r>
            <a:endParaRPr sz="1400">
              <a:solidFill>
                <a:schemeClr val="dk1"/>
              </a:solidFill>
              <a:latin typeface="Calibri"/>
              <a:ea typeface="Calibri"/>
              <a:cs typeface="Calibri"/>
              <a:sym typeface="Calibri"/>
            </a:endParaRPr>
          </a:p>
          <a:p>
            <a:pPr indent="-317500" lvl="0" marL="457200" rtl="0" algn="just">
              <a:lnSpc>
                <a:spcPct val="115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Power Source: Fixed, battery, energy harvesting, or hybrid. </a:t>
            </a:r>
            <a:endParaRPr sz="1400">
              <a:solidFill>
                <a:schemeClr val="dk1"/>
              </a:solidFill>
              <a:latin typeface="Calibri"/>
              <a:ea typeface="Calibri"/>
              <a:cs typeface="Calibri"/>
              <a:sym typeface="Calibri"/>
            </a:endParaRPr>
          </a:p>
          <a:p>
            <a:pPr indent="-317500" lvl="0" marL="457200" rtl="0" algn="just">
              <a:lnSpc>
                <a:spcPct val="115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Sensors and Actuators: Onboard sensors and actuators, or circuitry that allows them to be  connected, sampled, conditioned, and controlled. </a:t>
            </a:r>
            <a:endParaRPr sz="1400">
              <a:solidFill>
                <a:schemeClr val="dk1"/>
              </a:solidFill>
              <a:latin typeface="Calibri"/>
              <a:ea typeface="Calibri"/>
              <a:cs typeface="Calibri"/>
              <a:sym typeface="Calibri"/>
            </a:endParaRPr>
          </a:p>
          <a:p>
            <a:pPr indent="-317500" lvl="0" marL="457200" rtl="0" algn="just">
              <a:lnSpc>
                <a:spcPct val="115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Communication: wireless or wired  communication. </a:t>
            </a:r>
            <a:endParaRPr sz="1400">
              <a:solidFill>
                <a:schemeClr val="dk1"/>
              </a:solidFill>
              <a:latin typeface="Calibri"/>
              <a:ea typeface="Calibri"/>
              <a:cs typeface="Calibri"/>
              <a:sym typeface="Calibri"/>
            </a:endParaRPr>
          </a:p>
          <a:p>
            <a:pPr indent="-317500" lvl="0" marL="457200" rtl="0" algn="just">
              <a:lnSpc>
                <a:spcPct val="115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Applications: Simple sensor sampling or more advanced applications.  </a:t>
            </a:r>
            <a:endParaRPr sz="1400">
              <a:solidFill>
                <a:schemeClr val="dk1"/>
              </a:solidFill>
              <a:latin typeface="Calibri"/>
              <a:ea typeface="Calibri"/>
              <a:cs typeface="Calibri"/>
              <a:sym typeface="Calibri"/>
            </a:endParaRPr>
          </a:p>
          <a:p>
            <a:pPr indent="-317500" lvl="0" marL="457200" rtl="0" algn="just">
              <a:lnSpc>
                <a:spcPct val="115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User Interface: Display, buttons, or other functions for user interaction. </a:t>
            </a:r>
            <a:endParaRPr sz="14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6"/>
          <p:cNvSpPr txBox="1"/>
          <p:nvPr>
            <p:ph idx="1" type="body"/>
          </p:nvPr>
        </p:nvSpPr>
        <p:spPr>
          <a:xfrm>
            <a:off x="311700" y="294675"/>
            <a:ext cx="8520600" cy="427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900"/>
              <a:t>Device types </a:t>
            </a:r>
            <a:endParaRPr b="1" sz="1900"/>
          </a:p>
          <a:p>
            <a:pPr indent="0" lvl="0" marL="0" rtl="0" algn="l">
              <a:spcBef>
                <a:spcPts val="1200"/>
              </a:spcBef>
              <a:spcAft>
                <a:spcPts val="0"/>
              </a:spcAft>
              <a:buNone/>
            </a:pPr>
            <a:r>
              <a:rPr lang="en" sz="1700"/>
              <a:t>There are no clear criteria today for categorizing devices, but instead there is more of a sliding scale. we group devices into two categories. </a:t>
            </a:r>
            <a:endParaRPr sz="1700"/>
          </a:p>
          <a:p>
            <a:pPr indent="0" lvl="0" marL="0" rtl="0" algn="l">
              <a:spcBef>
                <a:spcPts val="1200"/>
              </a:spcBef>
              <a:spcAft>
                <a:spcPts val="0"/>
              </a:spcAft>
              <a:buNone/>
            </a:pPr>
            <a:r>
              <a:rPr lang="en" sz="1700"/>
              <a:t>• Basic Devices: </a:t>
            </a:r>
            <a:endParaRPr sz="1700"/>
          </a:p>
          <a:p>
            <a:pPr indent="-336550" lvl="0" marL="457200" rtl="0" algn="l">
              <a:spcBef>
                <a:spcPts val="1200"/>
              </a:spcBef>
              <a:spcAft>
                <a:spcPts val="0"/>
              </a:spcAft>
              <a:buSzPts val="1700"/>
              <a:buChar char="❖"/>
            </a:pPr>
            <a:r>
              <a:rPr lang="en" sz="1700"/>
              <a:t>Devices that only provide the basic services of sensor readings and/or actuation tasks, and in some cases limited support for user interaction. </a:t>
            </a:r>
            <a:endParaRPr sz="1700"/>
          </a:p>
          <a:p>
            <a:pPr indent="-336550" lvl="0" marL="457200" rtl="0" algn="l">
              <a:spcBef>
                <a:spcPts val="0"/>
              </a:spcBef>
              <a:spcAft>
                <a:spcPts val="0"/>
              </a:spcAft>
              <a:buSzPts val="1700"/>
              <a:buChar char="❖"/>
            </a:pPr>
            <a:r>
              <a:rPr lang="en" sz="1700"/>
              <a:t>T</a:t>
            </a:r>
            <a:r>
              <a:rPr lang="en" sz="1700"/>
              <a:t>hese</a:t>
            </a:r>
            <a:r>
              <a:rPr lang="en" sz="1700"/>
              <a:t> are devices that focus on providing essential functions like reading data from sensors or performing simple actions like turning on/off based on conditions. They might have basic ways for users to interact, such as buttons or simple displays.</a:t>
            </a:r>
            <a:endParaRPr sz="1700"/>
          </a:p>
          <a:p>
            <a:pPr indent="-336550" lvl="0" marL="457200" rtl="0" algn="l">
              <a:spcBef>
                <a:spcPts val="0"/>
              </a:spcBef>
              <a:spcAft>
                <a:spcPts val="0"/>
              </a:spcAft>
              <a:buSzPts val="1700"/>
              <a:buChar char="❖"/>
            </a:pPr>
            <a:r>
              <a:rPr lang="en" sz="1700"/>
              <a:t>For communication, they can connect to a local network (LAN) either through wired (like Ethernet) or wireless (like Wi-Fi) technology. </a:t>
            </a:r>
            <a:endParaRPr sz="17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Basic devices </a:t>
            </a:r>
            <a:endParaRPr b="1"/>
          </a:p>
          <a:p>
            <a:pPr indent="-330200" lvl="0" marL="457200" rtl="0" algn="l">
              <a:spcBef>
                <a:spcPts val="1200"/>
              </a:spcBef>
              <a:spcAft>
                <a:spcPts val="0"/>
              </a:spcAft>
              <a:buSzPts val="1600"/>
              <a:buChar char="●"/>
            </a:pPr>
            <a:r>
              <a:rPr lang="en" sz="1600"/>
              <a:t>These devices are often intended for a single purpose, such as measuring air pressure or closing a valve. In some cases several functions are deployed on the same device, such as monitoring humidity, temperature, and light level. </a:t>
            </a:r>
            <a:endParaRPr sz="1600"/>
          </a:p>
          <a:p>
            <a:pPr indent="-330200" lvl="0" marL="457200" rtl="0" algn="l">
              <a:spcBef>
                <a:spcPts val="0"/>
              </a:spcBef>
              <a:spcAft>
                <a:spcPts val="0"/>
              </a:spcAft>
              <a:buSzPts val="1600"/>
              <a:buChar char="●"/>
            </a:pPr>
            <a:r>
              <a:rPr lang="en" sz="1600"/>
              <a:t>The requirements on hardware are low, both in terms of processing power and memory.</a:t>
            </a:r>
            <a:endParaRPr sz="1600"/>
          </a:p>
          <a:p>
            <a:pPr indent="-330200" lvl="0" marL="457200" rtl="0" algn="l">
              <a:spcBef>
                <a:spcPts val="0"/>
              </a:spcBef>
              <a:spcAft>
                <a:spcPts val="0"/>
              </a:spcAft>
              <a:buSzPts val="1600"/>
              <a:buChar char="●"/>
            </a:pPr>
            <a:r>
              <a:rPr lang="en" sz="1600"/>
              <a:t>The main focus is on keeping the bill of materials (BOM) as low as possible by using inexpensive microcontrollers with built-in memory and storage.</a:t>
            </a:r>
            <a:endParaRPr sz="1600"/>
          </a:p>
          <a:p>
            <a:pPr indent="-330200" lvl="0" marL="457200" rtl="0" algn="l">
              <a:spcBef>
                <a:spcPts val="0"/>
              </a:spcBef>
              <a:spcAft>
                <a:spcPts val="0"/>
              </a:spcAft>
              <a:buSzPts val="1600"/>
              <a:buChar char="●"/>
            </a:pPr>
            <a:r>
              <a:rPr lang="en" sz="1600"/>
              <a:t>Another common goal is to enable battery as a power source, with a lifespan of a year and upwards by using ultra-low energy microcontrollers. </a:t>
            </a:r>
            <a:endParaRPr sz="16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8"/>
          <p:cNvSpPr txBox="1"/>
          <p:nvPr>
            <p:ph idx="1" type="body"/>
          </p:nvPr>
        </p:nvSpPr>
        <p:spPr>
          <a:xfrm>
            <a:off x="311700" y="677950"/>
            <a:ext cx="8520600" cy="3891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t>Advanced Devices: </a:t>
            </a:r>
            <a:endParaRPr b="1"/>
          </a:p>
          <a:p>
            <a:pPr indent="-330200" lvl="0" marL="457200" rtl="0" algn="l">
              <a:spcBef>
                <a:spcPts val="1200"/>
              </a:spcBef>
              <a:spcAft>
                <a:spcPts val="0"/>
              </a:spcAft>
              <a:buSzPts val="1600"/>
              <a:buChar char="❖"/>
            </a:pPr>
            <a:r>
              <a:rPr lang="en" sz="1600"/>
              <a:t>These devices go beyond basic functions. </a:t>
            </a:r>
            <a:endParaRPr sz="1600"/>
          </a:p>
          <a:p>
            <a:pPr indent="-330200" lvl="0" marL="457200" rtl="0" algn="l">
              <a:spcBef>
                <a:spcPts val="0"/>
              </a:spcBef>
              <a:spcAft>
                <a:spcPts val="0"/>
              </a:spcAft>
              <a:buSzPts val="1600"/>
              <a:buChar char="❖"/>
            </a:pPr>
            <a:r>
              <a:rPr lang="en" sz="1600"/>
              <a:t>They not only read sensor data and perform actions but also handle more complex tasks. </a:t>
            </a:r>
            <a:endParaRPr sz="1600"/>
          </a:p>
          <a:p>
            <a:pPr indent="-330200" lvl="0" marL="457200" rtl="0" algn="l">
              <a:spcBef>
                <a:spcPts val="0"/>
              </a:spcBef>
              <a:spcAft>
                <a:spcPts val="0"/>
              </a:spcAft>
              <a:buSzPts val="1600"/>
              <a:buChar char="❖"/>
            </a:pPr>
            <a:r>
              <a:rPr lang="en" sz="1600"/>
              <a:t>They often have built-in capabilities to connect directly to the internet (WAN) without needing an external gateway. </a:t>
            </a:r>
            <a:endParaRPr sz="1600"/>
          </a:p>
          <a:p>
            <a:pPr indent="-361950" lvl="0" marL="457200" rtl="0" algn="l">
              <a:spcBef>
                <a:spcPts val="0"/>
              </a:spcBef>
              <a:spcAft>
                <a:spcPts val="0"/>
              </a:spcAft>
              <a:buSzPts val="2100"/>
              <a:buChar char="❖"/>
            </a:pPr>
            <a:r>
              <a:rPr lang="en" sz="1600"/>
              <a:t>They can save power smartly.</a:t>
            </a:r>
            <a:endParaRPr sz="1600"/>
          </a:p>
          <a:p>
            <a:pPr indent="-330200" lvl="0" marL="457200" rtl="0" algn="l">
              <a:spcBef>
                <a:spcPts val="0"/>
              </a:spcBef>
              <a:spcAft>
                <a:spcPts val="0"/>
              </a:spcAft>
              <a:buSzPts val="1600"/>
              <a:buChar char="❖"/>
            </a:pPr>
            <a:r>
              <a:rPr lang="en" sz="1600"/>
              <a:t>They handle multiple tasks.</a:t>
            </a:r>
            <a:endParaRPr sz="1600"/>
          </a:p>
          <a:p>
            <a:pPr indent="-329685" lvl="0" marL="457200" rtl="0" algn="l">
              <a:lnSpc>
                <a:spcPct val="150000"/>
              </a:lnSpc>
              <a:spcBef>
                <a:spcPts val="0"/>
              </a:spcBef>
              <a:spcAft>
                <a:spcPts val="0"/>
              </a:spcAft>
              <a:buSzPts val="1592"/>
              <a:buChar char="❖"/>
            </a:pPr>
            <a:r>
              <a:rPr lang="en" sz="1591"/>
              <a:t>A powerful CPU or microcontroller with enough memory and storage to host advanced applications.</a:t>
            </a:r>
            <a:endParaRPr sz="1591"/>
          </a:p>
          <a:p>
            <a:pPr indent="-329685" lvl="0" marL="457200" rtl="0" algn="l">
              <a:lnSpc>
                <a:spcPct val="150000"/>
              </a:lnSpc>
              <a:spcBef>
                <a:spcPts val="0"/>
              </a:spcBef>
              <a:spcAft>
                <a:spcPts val="0"/>
              </a:spcAft>
              <a:buSzPts val="1592"/>
              <a:buChar char="❖"/>
            </a:pPr>
            <a:r>
              <a:rPr lang="en" sz="1591"/>
              <a:t>A more advanced user interface with, for example, display and advanced user input in the form of a keypad or touch screen.</a:t>
            </a:r>
            <a:endParaRPr sz="16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9"/>
          <p:cNvSpPr txBox="1"/>
          <p:nvPr>
            <p:ph idx="1" type="body"/>
          </p:nvPr>
        </p:nvSpPr>
        <p:spPr>
          <a:xfrm>
            <a:off x="472450" y="568650"/>
            <a:ext cx="8520600" cy="400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152"/>
              <a:t>Gateways </a:t>
            </a:r>
            <a:endParaRPr sz="1400"/>
          </a:p>
          <a:p>
            <a:pPr indent="0" lvl="0" marL="0" rtl="0" algn="l">
              <a:spcBef>
                <a:spcPts val="1200"/>
              </a:spcBef>
              <a:spcAft>
                <a:spcPts val="0"/>
              </a:spcAft>
              <a:buNone/>
            </a:pPr>
            <a:r>
              <a:rPr lang="en" sz="1600"/>
              <a:t>A gateway in the context of networking and devices refers to a device that acts as a bridge between different networks or protocols. </a:t>
            </a:r>
            <a:endParaRPr sz="1600"/>
          </a:p>
          <a:p>
            <a:pPr indent="0" lvl="0" marL="0" rtl="0" algn="l">
              <a:spcBef>
                <a:spcPts val="1200"/>
              </a:spcBef>
              <a:spcAft>
                <a:spcPts val="0"/>
              </a:spcAft>
              <a:buNone/>
            </a:pPr>
            <a:r>
              <a:rPr b="1" lang="en" sz="1600"/>
              <a:t>Gateway Defined:</a:t>
            </a:r>
            <a:endParaRPr b="1" sz="1600"/>
          </a:p>
          <a:p>
            <a:pPr indent="-330200" lvl="0" marL="457200" rtl="0" algn="l">
              <a:spcBef>
                <a:spcPts val="1200"/>
              </a:spcBef>
              <a:spcAft>
                <a:spcPts val="0"/>
              </a:spcAft>
              <a:buClr>
                <a:schemeClr val="lt2"/>
              </a:buClr>
              <a:buSzPts val="1600"/>
              <a:buAutoNum type="arabicPeriod"/>
            </a:pPr>
            <a:r>
              <a:rPr b="1" lang="en" sz="1600"/>
              <a:t>Network Bridge</a:t>
            </a:r>
            <a:r>
              <a:rPr lang="en" sz="1600"/>
              <a:t>: A gateway connects two different networks that use different protocols. For example, it could connect a local area network (LAN) using Ethernet to the wider internet using a different protocol like TCP/IP.</a:t>
            </a:r>
            <a:endParaRPr sz="1600"/>
          </a:p>
          <a:p>
            <a:pPr indent="-330200" lvl="0" marL="457200" rtl="0" algn="l">
              <a:spcBef>
                <a:spcPts val="0"/>
              </a:spcBef>
              <a:spcAft>
                <a:spcPts val="0"/>
              </a:spcAft>
              <a:buClr>
                <a:schemeClr val="lt2"/>
              </a:buClr>
              <a:buSzPts val="1600"/>
              <a:buAutoNum type="arabicPeriod"/>
            </a:pPr>
            <a:r>
              <a:rPr b="1" lang="en" sz="1600"/>
              <a:t>Protocol Converter</a:t>
            </a:r>
            <a:r>
              <a:rPr lang="en" sz="1600"/>
              <a:t>: It translates data between different types of networks or protocols, ensuring that devices on one network can communicate with devices on another network.</a:t>
            </a:r>
            <a:endParaRPr sz="1600"/>
          </a:p>
          <a:p>
            <a:pPr indent="0" lvl="0" marL="0" rtl="0" algn="l">
              <a:spcBef>
                <a:spcPts val="1200"/>
              </a:spcBef>
              <a:spcAft>
                <a:spcPts val="12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50"/>
          <p:cNvSpPr txBox="1"/>
          <p:nvPr>
            <p:ph idx="1" type="body"/>
          </p:nvPr>
        </p:nvSpPr>
        <p:spPr>
          <a:xfrm>
            <a:off x="311700" y="335775"/>
            <a:ext cx="8520600" cy="4233000"/>
          </a:xfrm>
          <a:prstGeom prst="rect">
            <a:avLst/>
          </a:prstGeom>
        </p:spPr>
        <p:txBody>
          <a:bodyPr anchorCtr="0" anchor="t" bIns="91425" lIns="91425" spcFirstLastPara="1" rIns="91425" wrap="square" tIns="91425">
            <a:normAutofit lnSpcReduction="20000"/>
          </a:bodyPr>
          <a:lstStyle/>
          <a:p>
            <a:pPr indent="-330200" lvl="0" marL="457200" rtl="0" algn="l">
              <a:lnSpc>
                <a:spcPct val="150000"/>
              </a:lnSpc>
              <a:spcBef>
                <a:spcPts val="0"/>
              </a:spcBef>
              <a:spcAft>
                <a:spcPts val="0"/>
              </a:spcAft>
              <a:buSzPts val="1600"/>
              <a:buChar char="●"/>
            </a:pPr>
            <a:r>
              <a:rPr lang="en" sz="1600"/>
              <a:t>For very basic gateways, the hardware is typically focused on simplicity and low cost, but frequently the gateway device is also used for many other tasks, such as data management, device management, and local applications. </a:t>
            </a:r>
            <a:endParaRPr sz="1600"/>
          </a:p>
          <a:p>
            <a:pPr indent="-330200" lvl="0" marL="457200" rtl="0" algn="l">
              <a:lnSpc>
                <a:spcPct val="150000"/>
              </a:lnSpc>
              <a:spcBef>
                <a:spcPts val="0"/>
              </a:spcBef>
              <a:spcAft>
                <a:spcPts val="0"/>
              </a:spcAft>
              <a:buSzPts val="1600"/>
              <a:buChar char="●"/>
            </a:pPr>
            <a:r>
              <a:rPr b="1" lang="en" sz="1600"/>
              <a:t>Data Management:</a:t>
            </a:r>
            <a:br>
              <a:rPr b="1" lang="en" sz="1600"/>
            </a:br>
            <a:r>
              <a:rPr lang="en" sz="1600"/>
              <a:t> Storing, filtering, or pre-processing the sensor data before sending it to the cloud.</a:t>
            </a:r>
            <a:endParaRPr sz="1600"/>
          </a:p>
          <a:p>
            <a:pPr indent="-330200" lvl="0" marL="457200" rtl="0" algn="l">
              <a:lnSpc>
                <a:spcPct val="150000"/>
              </a:lnSpc>
              <a:spcBef>
                <a:spcPts val="0"/>
              </a:spcBef>
              <a:spcAft>
                <a:spcPts val="0"/>
              </a:spcAft>
              <a:buSzPts val="1600"/>
              <a:buChar char="●"/>
            </a:pPr>
            <a:r>
              <a:rPr b="1" lang="en" sz="1600"/>
              <a:t>Device Management:</a:t>
            </a:r>
            <a:br>
              <a:rPr b="1" lang="en" sz="1600"/>
            </a:br>
            <a:r>
              <a:rPr lang="en" sz="1600"/>
              <a:t> Keeping track of connected devices, checking their status, or updating their software.</a:t>
            </a:r>
            <a:br>
              <a:rPr lang="en" sz="1600"/>
            </a:br>
            <a:endParaRPr sz="1600"/>
          </a:p>
          <a:p>
            <a:pPr indent="-330200" lvl="0" marL="457200" rtl="0" algn="l">
              <a:lnSpc>
                <a:spcPct val="150000"/>
              </a:lnSpc>
              <a:spcBef>
                <a:spcPts val="0"/>
              </a:spcBef>
              <a:spcAft>
                <a:spcPts val="0"/>
              </a:spcAft>
              <a:buSzPts val="1600"/>
              <a:buChar char="●"/>
            </a:pPr>
            <a:r>
              <a:rPr b="1" lang="en" sz="1600"/>
              <a:t>Local Applications:</a:t>
            </a:r>
            <a:br>
              <a:rPr b="1" lang="en" sz="1600"/>
            </a:br>
            <a:r>
              <a:rPr lang="en" sz="1600"/>
              <a:t> Running small programs or logic locally—like turning on a fan when the temperature gets too high..</a:t>
            </a:r>
            <a:endParaRPr sz="1600"/>
          </a:p>
          <a:p>
            <a:pPr indent="0" lvl="0" marL="457200" rtl="0" algn="l">
              <a:lnSpc>
                <a:spcPct val="150000"/>
              </a:lnSpc>
              <a:spcBef>
                <a:spcPts val="1200"/>
              </a:spcBef>
              <a:spcAft>
                <a:spcPts val="1200"/>
              </a:spcAft>
              <a:buNone/>
            </a:pPr>
            <a:r>
              <a:t/>
            </a:r>
            <a:endParaRPr b="1"/>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51"/>
          <p:cNvSpPr txBox="1"/>
          <p:nvPr>
            <p:ph idx="1" type="body"/>
          </p:nvPr>
        </p:nvSpPr>
        <p:spPr>
          <a:xfrm>
            <a:off x="311700" y="1009450"/>
            <a:ext cx="8520600" cy="355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Device management </a:t>
            </a:r>
            <a:endParaRPr b="1"/>
          </a:p>
          <a:p>
            <a:pPr indent="0" lvl="0" marL="0" rtl="0" algn="l">
              <a:spcBef>
                <a:spcPts val="1200"/>
              </a:spcBef>
              <a:spcAft>
                <a:spcPts val="0"/>
              </a:spcAft>
              <a:buNone/>
            </a:pPr>
            <a:r>
              <a:rPr lang="en"/>
              <a:t>Device management (DM) is an essential part of the IoT and provides efficient means to perform many of the management tasks for devices: </a:t>
            </a:r>
            <a:endParaRPr/>
          </a:p>
          <a:p>
            <a:pPr indent="-330200" lvl="0" marL="457200" rtl="0" algn="l">
              <a:spcBef>
                <a:spcPts val="1200"/>
              </a:spcBef>
              <a:spcAft>
                <a:spcPts val="0"/>
              </a:spcAft>
              <a:buSzPts val="1600"/>
              <a:buChar char="●"/>
            </a:pPr>
            <a:r>
              <a:rPr lang="en" sz="1600"/>
              <a:t>Provisioning: Initialization (or activation) of devices in regards to configuration and features to be enabled. </a:t>
            </a:r>
            <a:endParaRPr sz="1600"/>
          </a:p>
          <a:p>
            <a:pPr indent="-330200" lvl="0" marL="457200" rtl="0" algn="l">
              <a:spcBef>
                <a:spcPts val="0"/>
              </a:spcBef>
              <a:spcAft>
                <a:spcPts val="0"/>
              </a:spcAft>
              <a:buSzPts val="1600"/>
              <a:buChar char="●"/>
            </a:pPr>
            <a:r>
              <a:rPr lang="en" sz="1600"/>
              <a:t>Device Configuration: Management of device settings and parameters. </a:t>
            </a:r>
            <a:endParaRPr sz="1600"/>
          </a:p>
          <a:p>
            <a:pPr indent="-330200" lvl="0" marL="457200" rtl="0" algn="l">
              <a:spcBef>
                <a:spcPts val="0"/>
              </a:spcBef>
              <a:spcAft>
                <a:spcPts val="0"/>
              </a:spcAft>
              <a:buSzPts val="1600"/>
              <a:buChar char="●"/>
            </a:pPr>
            <a:r>
              <a:rPr lang="en" sz="1600"/>
              <a:t>Software Upgrades: Installation of firmware, system software, and applications on the device. </a:t>
            </a:r>
            <a:endParaRPr sz="1600"/>
          </a:p>
          <a:p>
            <a:pPr indent="-330200" lvl="0" marL="457200" rtl="0" algn="l">
              <a:spcBef>
                <a:spcPts val="0"/>
              </a:spcBef>
              <a:spcAft>
                <a:spcPts val="0"/>
              </a:spcAft>
              <a:buSzPts val="1600"/>
              <a:buChar char="●"/>
            </a:pPr>
            <a:r>
              <a:rPr lang="en" sz="1600"/>
              <a:t>Fault Management: Enables error reporting and access to device status. </a:t>
            </a:r>
            <a:endParaRPr sz="16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52"/>
          <p:cNvSpPr txBox="1"/>
          <p:nvPr>
            <p:ph idx="1" type="body"/>
          </p:nvPr>
        </p:nvSpPr>
        <p:spPr>
          <a:xfrm>
            <a:off x="311700" y="341875"/>
            <a:ext cx="8520600" cy="4227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200"/>
              <a:t>Provisioning</a:t>
            </a:r>
            <a:br>
              <a:rPr b="1" lang="en" sz="1200"/>
            </a:br>
            <a:r>
              <a:rPr lang="en" sz="1200"/>
              <a:t> This is the </a:t>
            </a:r>
            <a:r>
              <a:rPr b="1" lang="en" sz="1200"/>
              <a:t>initial setup or activation</a:t>
            </a:r>
            <a:r>
              <a:rPr lang="en" sz="1200"/>
              <a:t> of a device when it is first connected to the network.</a:t>
            </a:r>
            <a:endParaRPr sz="1200"/>
          </a:p>
          <a:p>
            <a:pPr indent="-304800" lvl="0" marL="457200" rtl="0" algn="l">
              <a:spcBef>
                <a:spcPts val="1200"/>
              </a:spcBef>
              <a:spcAft>
                <a:spcPts val="0"/>
              </a:spcAft>
              <a:buClr>
                <a:schemeClr val="lt2"/>
              </a:buClr>
              <a:buSzPts val="1200"/>
              <a:buChar char="●"/>
            </a:pPr>
            <a:r>
              <a:rPr lang="en" sz="1200"/>
              <a:t>It involves assigning device IDs, registering devices with the management platform, and setting up initial configurations and security credentials.</a:t>
            </a:r>
            <a:endParaRPr sz="1200"/>
          </a:p>
          <a:p>
            <a:pPr indent="0" lvl="0" marL="0" rtl="0" algn="l">
              <a:spcBef>
                <a:spcPts val="1400"/>
              </a:spcBef>
              <a:spcAft>
                <a:spcPts val="0"/>
              </a:spcAft>
              <a:buNone/>
            </a:pPr>
            <a:r>
              <a:rPr b="1" lang="en" sz="1200"/>
              <a:t>Device Configuration</a:t>
            </a:r>
            <a:endParaRPr b="1" sz="1200"/>
          </a:p>
          <a:p>
            <a:pPr indent="0" lvl="0" marL="0" rtl="0" algn="l">
              <a:spcBef>
                <a:spcPts val="1200"/>
              </a:spcBef>
              <a:spcAft>
                <a:spcPts val="0"/>
              </a:spcAft>
              <a:buNone/>
            </a:pPr>
            <a:r>
              <a:rPr lang="en" sz="1200"/>
              <a:t>Once a device is provisioned and activated, it often requires </a:t>
            </a:r>
            <a:r>
              <a:rPr b="1" lang="en" sz="1200"/>
              <a:t>ongoing management of its settings</a:t>
            </a:r>
            <a:r>
              <a:rPr lang="en" sz="1200"/>
              <a:t> to ensure it operates as intended.</a:t>
            </a:r>
            <a:endParaRPr sz="1200"/>
          </a:p>
          <a:p>
            <a:pPr indent="0" lvl="0" marL="0" rtl="0" algn="l">
              <a:spcBef>
                <a:spcPts val="1200"/>
              </a:spcBef>
              <a:spcAft>
                <a:spcPts val="0"/>
              </a:spcAft>
              <a:buNone/>
            </a:pPr>
            <a:r>
              <a:rPr b="1" lang="en" sz="1200"/>
              <a:t>Device Configuration</a:t>
            </a:r>
            <a:r>
              <a:rPr lang="en" sz="1200"/>
              <a:t> involves:</a:t>
            </a:r>
            <a:endParaRPr sz="1200"/>
          </a:p>
          <a:p>
            <a:pPr indent="-304800" lvl="0" marL="457200" rtl="0" algn="l">
              <a:spcBef>
                <a:spcPts val="1200"/>
              </a:spcBef>
              <a:spcAft>
                <a:spcPts val="0"/>
              </a:spcAft>
              <a:buClr>
                <a:schemeClr val="lt2"/>
              </a:buClr>
              <a:buSzPts val="1200"/>
              <a:buChar char="●"/>
            </a:pPr>
            <a:r>
              <a:rPr lang="en" sz="1200"/>
              <a:t>Adjusting or updating device parameters and settings remotely</a:t>
            </a:r>
            <a:br>
              <a:rPr lang="en" sz="1200"/>
            </a:br>
            <a:endParaRPr sz="1200"/>
          </a:p>
          <a:p>
            <a:pPr indent="-304800" lvl="0" marL="457200" rtl="0" algn="l">
              <a:spcBef>
                <a:spcPts val="0"/>
              </a:spcBef>
              <a:spcAft>
                <a:spcPts val="0"/>
              </a:spcAft>
              <a:buClr>
                <a:schemeClr val="lt2"/>
              </a:buClr>
              <a:buSzPts val="1200"/>
              <a:buChar char="●"/>
            </a:pPr>
            <a:r>
              <a:rPr lang="en" sz="1200"/>
              <a:t>Customizing device behavior based on user needs or environmental conditions</a:t>
            </a:r>
            <a:endParaRPr sz="1200"/>
          </a:p>
          <a:p>
            <a:pPr indent="0" lvl="0" marL="0" rtl="0" algn="l">
              <a:spcBef>
                <a:spcPts val="1200"/>
              </a:spcBef>
              <a:spcAft>
                <a:spcPts val="12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300"/>
              <a:t>Software Upgrades</a:t>
            </a:r>
            <a:br>
              <a:rPr b="1" lang="en" sz="1300"/>
            </a:br>
            <a:r>
              <a:rPr lang="en" sz="1300"/>
              <a:t> Keeping devices’ software (firmware, system software, or applications) updated is critical for security, functionality, and performance.</a:t>
            </a:r>
            <a:endParaRPr sz="1300"/>
          </a:p>
          <a:p>
            <a:pPr indent="-311150" lvl="0" marL="457200" rtl="0" algn="l">
              <a:spcBef>
                <a:spcPts val="1200"/>
              </a:spcBef>
              <a:spcAft>
                <a:spcPts val="0"/>
              </a:spcAft>
              <a:buClr>
                <a:schemeClr val="lt2"/>
              </a:buClr>
              <a:buSzPts val="1300"/>
              <a:buChar char="●"/>
            </a:pPr>
            <a:r>
              <a:rPr lang="en" sz="1300"/>
              <a:t>DM allows remote installation of these updates without physically accessing the device.</a:t>
            </a:r>
            <a:endParaRPr sz="1300"/>
          </a:p>
          <a:p>
            <a:pPr indent="0" lvl="0" marL="0" rtl="0" algn="l">
              <a:spcBef>
                <a:spcPts val="1200"/>
              </a:spcBef>
              <a:spcAft>
                <a:spcPts val="0"/>
              </a:spcAft>
              <a:buNone/>
            </a:pPr>
            <a:r>
              <a:rPr b="1" lang="en" sz="1300"/>
              <a:t>Fault Management</a:t>
            </a:r>
            <a:br>
              <a:rPr b="1" lang="en" sz="1300"/>
            </a:br>
            <a:r>
              <a:rPr lang="en" sz="1300"/>
              <a:t> Devices can encounter errors or malfunctions. Fault management helps detect, report, and sometimes automatically fix these issues.</a:t>
            </a:r>
            <a:endParaRPr sz="1300"/>
          </a:p>
          <a:p>
            <a:pPr indent="-311150" lvl="0" marL="457200" rtl="0" algn="l">
              <a:spcBef>
                <a:spcPts val="1200"/>
              </a:spcBef>
              <a:spcAft>
                <a:spcPts val="0"/>
              </a:spcAft>
              <a:buClr>
                <a:schemeClr val="lt2"/>
              </a:buClr>
              <a:buSzPts val="1300"/>
              <a:buChar char="●"/>
            </a:pPr>
            <a:r>
              <a:rPr lang="en" sz="1300"/>
              <a:t>It includes monitoring device status, error logs, and alerts to maintain operational health.</a:t>
            </a:r>
            <a:br>
              <a:rPr lang="en" sz="1300"/>
            </a:br>
            <a:endParaRPr sz="1300"/>
          </a:p>
          <a:p>
            <a:pPr indent="0" lvl="0" marL="0" rtl="0" algn="l">
              <a:spcBef>
                <a:spcPts val="1200"/>
              </a:spcBef>
              <a:spcAft>
                <a:spcPts val="120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54"/>
          <p:cNvSpPr txBox="1"/>
          <p:nvPr>
            <p:ph idx="1" type="body"/>
          </p:nvPr>
        </p:nvSpPr>
        <p:spPr>
          <a:xfrm>
            <a:off x="172675" y="393575"/>
            <a:ext cx="8520600" cy="34164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sz="1700"/>
              <a:t>Local and Wide Area Networking</a:t>
            </a:r>
            <a:endParaRPr b="1" sz="1700"/>
          </a:p>
          <a:p>
            <a:pPr indent="0" lvl="0" marL="0" rtl="0" algn="l">
              <a:spcBef>
                <a:spcPts val="1200"/>
              </a:spcBef>
              <a:spcAft>
                <a:spcPts val="0"/>
              </a:spcAft>
              <a:buNone/>
            </a:pPr>
            <a:r>
              <a:rPr b="1" lang="en" sz="1700"/>
              <a:t>Local Area Network (LAN):</a:t>
            </a:r>
            <a:endParaRPr b="1" sz="1700"/>
          </a:p>
          <a:p>
            <a:pPr indent="-336550" lvl="0" marL="457200" rtl="0" algn="l">
              <a:spcBef>
                <a:spcPts val="1200"/>
              </a:spcBef>
              <a:spcAft>
                <a:spcPts val="0"/>
              </a:spcAft>
              <a:buClr>
                <a:schemeClr val="lt2"/>
              </a:buClr>
              <a:buSzPts val="1700"/>
              <a:buChar char="●"/>
            </a:pPr>
            <a:r>
              <a:rPr b="1" lang="en" sz="1700"/>
              <a:t>Definition:</a:t>
            </a:r>
            <a:r>
              <a:rPr lang="en" sz="1700"/>
              <a:t> A LAN is a network that connects computers and other devices within a limited area, such as a home, office, or campus.</a:t>
            </a:r>
            <a:endParaRPr sz="1700"/>
          </a:p>
          <a:p>
            <a:pPr indent="-336550" lvl="0" marL="457200" rtl="0" algn="l">
              <a:spcBef>
                <a:spcPts val="0"/>
              </a:spcBef>
              <a:spcAft>
                <a:spcPts val="0"/>
              </a:spcAft>
              <a:buClr>
                <a:schemeClr val="lt2"/>
              </a:buClr>
              <a:buSzPts val="1700"/>
              <a:buChar char="●"/>
            </a:pPr>
            <a:r>
              <a:rPr b="1" lang="en" sz="1700"/>
              <a:t>Characteristics:</a:t>
            </a:r>
            <a:endParaRPr b="1" sz="1700"/>
          </a:p>
          <a:p>
            <a:pPr indent="-336550" lvl="1" marL="914400" rtl="0" algn="l">
              <a:spcBef>
                <a:spcPts val="0"/>
              </a:spcBef>
              <a:spcAft>
                <a:spcPts val="0"/>
              </a:spcAft>
              <a:buClr>
                <a:schemeClr val="lt2"/>
              </a:buClr>
              <a:buSzPts val="1700"/>
              <a:buChar char="○"/>
            </a:pPr>
            <a:r>
              <a:rPr b="1" lang="en" sz="1700"/>
              <a:t>High-Speed Connectivity:</a:t>
            </a:r>
            <a:r>
              <a:rPr lang="en" sz="1700"/>
              <a:t> Typically offers high-speed connections (e.g., Ethernet or Wi-Fi).</a:t>
            </a:r>
            <a:endParaRPr sz="1700"/>
          </a:p>
          <a:p>
            <a:pPr indent="-336550" lvl="1" marL="914400" rtl="0" algn="l">
              <a:spcBef>
                <a:spcPts val="0"/>
              </a:spcBef>
              <a:spcAft>
                <a:spcPts val="0"/>
              </a:spcAft>
              <a:buClr>
                <a:schemeClr val="lt2"/>
              </a:buClr>
              <a:buSzPts val="1700"/>
              <a:buChar char="○"/>
            </a:pPr>
            <a:r>
              <a:rPr b="1" lang="en" sz="1700"/>
              <a:t>Limited Geographic Range:</a:t>
            </a:r>
            <a:r>
              <a:rPr lang="en" sz="1700"/>
              <a:t> Covers a small geographic area.</a:t>
            </a:r>
            <a:endParaRPr sz="1700"/>
          </a:p>
          <a:p>
            <a:pPr indent="-336550" lvl="1" marL="914400" rtl="0" algn="l">
              <a:spcBef>
                <a:spcPts val="0"/>
              </a:spcBef>
              <a:spcAft>
                <a:spcPts val="0"/>
              </a:spcAft>
              <a:buClr>
                <a:schemeClr val="lt2"/>
              </a:buClr>
              <a:buSzPts val="1700"/>
              <a:buChar char="○"/>
            </a:pPr>
            <a:r>
              <a:rPr b="1" lang="en" sz="1700"/>
              <a:t>Private Network:</a:t>
            </a:r>
            <a:r>
              <a:rPr lang="en" sz="1700"/>
              <a:t> Usually confined to a single organization or home.</a:t>
            </a:r>
            <a:endParaRPr sz="1700"/>
          </a:p>
          <a:p>
            <a:pPr indent="-336550" lvl="1" marL="914400" rtl="0" algn="l">
              <a:spcBef>
                <a:spcPts val="0"/>
              </a:spcBef>
              <a:spcAft>
                <a:spcPts val="0"/>
              </a:spcAft>
              <a:buClr>
                <a:schemeClr val="lt2"/>
              </a:buClr>
              <a:buSzPts val="1700"/>
              <a:buChar char="○"/>
            </a:pPr>
            <a:r>
              <a:rPr b="1" lang="en" sz="1700"/>
              <a:t>Usage:</a:t>
            </a:r>
            <a:r>
              <a:rPr lang="en" sz="1700"/>
              <a:t> File sharing, printer access, and internal communications.</a:t>
            </a:r>
            <a:endParaRPr sz="1700"/>
          </a:p>
          <a:p>
            <a:pPr indent="0" lvl="0" marL="0" rtl="0" algn="l">
              <a:spcBef>
                <a:spcPts val="1200"/>
              </a:spcBef>
              <a:spcAft>
                <a:spcPts val="1200"/>
              </a:spcAft>
              <a:buNone/>
            </a:pPr>
            <a:r>
              <a:t/>
            </a:r>
            <a:endParaRPr sz="17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55"/>
          <p:cNvSpPr txBox="1"/>
          <p:nvPr>
            <p:ph idx="1" type="body"/>
          </p:nvPr>
        </p:nvSpPr>
        <p:spPr>
          <a:xfrm>
            <a:off x="204525" y="863550"/>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600"/>
              <a:t>Wide Area Network (WAN):</a:t>
            </a:r>
            <a:endParaRPr b="1" sz="1600"/>
          </a:p>
          <a:p>
            <a:pPr indent="-330200" lvl="0" marL="457200" rtl="0" algn="l">
              <a:spcBef>
                <a:spcPts val="1200"/>
              </a:spcBef>
              <a:spcAft>
                <a:spcPts val="0"/>
              </a:spcAft>
              <a:buClr>
                <a:schemeClr val="lt2"/>
              </a:buClr>
              <a:buSzPts val="1600"/>
              <a:buChar char="●"/>
            </a:pPr>
            <a:r>
              <a:rPr b="1" lang="en" sz="1600"/>
              <a:t>Definition:</a:t>
            </a:r>
            <a:r>
              <a:rPr lang="en" sz="1600"/>
              <a:t> A WAN spans a larger geographic area, connecting multiple LANs or other types of networks across cities, countries, or even continents.</a:t>
            </a:r>
            <a:endParaRPr sz="1600"/>
          </a:p>
          <a:p>
            <a:pPr indent="-330200" lvl="0" marL="457200" rtl="0" algn="l">
              <a:spcBef>
                <a:spcPts val="0"/>
              </a:spcBef>
              <a:spcAft>
                <a:spcPts val="0"/>
              </a:spcAft>
              <a:buClr>
                <a:schemeClr val="lt2"/>
              </a:buClr>
              <a:buSzPts val="1600"/>
              <a:buChar char="●"/>
            </a:pPr>
            <a:r>
              <a:rPr b="1" lang="en" sz="1600"/>
              <a:t>Characteristics:</a:t>
            </a:r>
            <a:endParaRPr b="1" sz="1600"/>
          </a:p>
          <a:p>
            <a:pPr indent="-330200" lvl="1" marL="914400" rtl="0" algn="l">
              <a:spcBef>
                <a:spcPts val="0"/>
              </a:spcBef>
              <a:spcAft>
                <a:spcPts val="0"/>
              </a:spcAft>
              <a:buClr>
                <a:schemeClr val="lt2"/>
              </a:buClr>
              <a:buSzPts val="1600"/>
              <a:buChar char="○"/>
            </a:pPr>
            <a:r>
              <a:rPr b="1" lang="en" sz="1600"/>
              <a:t>Varied Speed:</a:t>
            </a:r>
            <a:r>
              <a:rPr lang="en" sz="1600"/>
              <a:t> Speeds can vary depending on the technology.</a:t>
            </a:r>
            <a:endParaRPr sz="1600"/>
          </a:p>
          <a:p>
            <a:pPr indent="-330200" lvl="1" marL="914400" rtl="0" algn="l">
              <a:spcBef>
                <a:spcPts val="0"/>
              </a:spcBef>
              <a:spcAft>
                <a:spcPts val="0"/>
              </a:spcAft>
              <a:buClr>
                <a:schemeClr val="lt2"/>
              </a:buClr>
              <a:buSzPts val="1600"/>
              <a:buChar char="○"/>
            </a:pPr>
            <a:r>
              <a:rPr b="1" lang="en" sz="1600"/>
              <a:t>Large Geographic Range:</a:t>
            </a:r>
            <a:r>
              <a:rPr lang="en" sz="1600"/>
              <a:t> Covers vast distances.</a:t>
            </a:r>
            <a:endParaRPr sz="1600"/>
          </a:p>
          <a:p>
            <a:pPr indent="-330200" lvl="1" marL="914400" rtl="0" algn="l">
              <a:spcBef>
                <a:spcPts val="0"/>
              </a:spcBef>
              <a:spcAft>
                <a:spcPts val="0"/>
              </a:spcAft>
              <a:buClr>
                <a:schemeClr val="lt2"/>
              </a:buClr>
              <a:buSzPts val="1600"/>
              <a:buChar char="○"/>
            </a:pPr>
            <a:r>
              <a:rPr b="1" lang="en" sz="1600"/>
              <a:t>Public or Private:</a:t>
            </a:r>
            <a:r>
              <a:rPr lang="en" sz="1600"/>
              <a:t> Can be either public (like the Internet) or private (e.g., a company's global network).</a:t>
            </a:r>
            <a:endParaRPr sz="1600"/>
          </a:p>
          <a:p>
            <a:pPr indent="-330200" lvl="1" marL="914400" rtl="0" algn="l">
              <a:spcBef>
                <a:spcPts val="0"/>
              </a:spcBef>
              <a:spcAft>
                <a:spcPts val="0"/>
              </a:spcAft>
              <a:buClr>
                <a:schemeClr val="lt2"/>
              </a:buClr>
              <a:buSzPts val="1600"/>
              <a:buChar char="○"/>
            </a:pPr>
            <a:r>
              <a:rPr b="1" lang="en" sz="1600"/>
              <a:t>Usage:</a:t>
            </a:r>
            <a:r>
              <a:rPr lang="en" sz="1600"/>
              <a:t> Interconnecting remote offices and global communication.</a:t>
            </a:r>
            <a:endParaRPr sz="1600"/>
          </a:p>
          <a:p>
            <a:pPr indent="0" lvl="0" marL="0" rtl="0" algn="l">
              <a:spcBef>
                <a:spcPts val="1200"/>
              </a:spcBef>
              <a:spcAft>
                <a:spcPts val="1200"/>
              </a:spcAft>
              <a:buNone/>
            </a:pPr>
            <a:r>
              <a:t/>
            </a:r>
            <a:endParaRPr sz="22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56"/>
          <p:cNvSpPr txBox="1"/>
          <p:nvPr>
            <p:ph idx="1" type="body"/>
          </p:nvPr>
        </p:nvSpPr>
        <p:spPr>
          <a:xfrm>
            <a:off x="367625" y="980375"/>
            <a:ext cx="8520600" cy="360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t>Data management </a:t>
            </a:r>
            <a:endParaRPr b="1" sz="2000"/>
          </a:p>
          <a:p>
            <a:pPr indent="0" lvl="0" marL="0" rtl="0" algn="l">
              <a:spcBef>
                <a:spcPts val="1200"/>
              </a:spcBef>
              <a:spcAft>
                <a:spcPts val="1200"/>
              </a:spcAft>
              <a:buNone/>
            </a:pPr>
            <a:r>
              <a:rPr lang="en"/>
              <a:t>Data management in the Internet of Things (IoT) involves the collection, storage, processing, and analysis of data generated by IoT devices. This is crucial because IoT systems often produce vast amounts of data from different  sources, including sensors, devices, and applications. Effective data management ensures that this data is utilized efficiently, securely, and in a manner that supports decision-making and operational efficiency.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57"/>
          <p:cNvSpPr txBox="1"/>
          <p:nvPr>
            <p:ph idx="1" type="body"/>
          </p:nvPr>
        </p:nvSpPr>
        <p:spPr>
          <a:xfrm>
            <a:off x="311700" y="702825"/>
            <a:ext cx="8520600" cy="34164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a:t>1. Data Collection</a:t>
            </a:r>
            <a:endParaRPr b="1"/>
          </a:p>
          <a:p>
            <a:pPr indent="-330200" lvl="0" marL="457200" rtl="0" algn="l">
              <a:spcBef>
                <a:spcPts val="1200"/>
              </a:spcBef>
              <a:spcAft>
                <a:spcPts val="0"/>
              </a:spcAft>
              <a:buClr>
                <a:schemeClr val="lt2"/>
              </a:buClr>
              <a:buSzPts val="1600"/>
              <a:buChar char="●"/>
            </a:pPr>
            <a:r>
              <a:rPr b="1" lang="en" sz="1600"/>
              <a:t>Sensors</a:t>
            </a:r>
            <a:r>
              <a:rPr lang="en" sz="1600"/>
              <a:t>: sensors will gather data from their environment or operations.</a:t>
            </a:r>
            <a:endParaRPr sz="1600"/>
          </a:p>
          <a:p>
            <a:pPr indent="-330200" lvl="0" marL="457200" rtl="0" algn="l">
              <a:spcBef>
                <a:spcPts val="0"/>
              </a:spcBef>
              <a:spcAft>
                <a:spcPts val="0"/>
              </a:spcAft>
              <a:buClr>
                <a:schemeClr val="lt2"/>
              </a:buClr>
              <a:buSzPts val="1600"/>
              <a:buChar char="●"/>
            </a:pPr>
            <a:r>
              <a:rPr b="1" lang="en" sz="1600"/>
              <a:t>Data Sources</a:t>
            </a:r>
            <a:r>
              <a:rPr lang="en" sz="1600"/>
              <a:t>: Data can come from various sources including environmental sensors, wearables, smart appliances, and industrial equipment.</a:t>
            </a:r>
            <a:endParaRPr sz="1600"/>
          </a:p>
          <a:p>
            <a:pPr indent="0" lvl="0" marL="0" rtl="0" algn="l">
              <a:spcBef>
                <a:spcPts val="1400"/>
              </a:spcBef>
              <a:spcAft>
                <a:spcPts val="0"/>
              </a:spcAft>
              <a:buNone/>
            </a:pPr>
            <a:r>
              <a:rPr b="1" lang="en"/>
              <a:t>2. Data Transmission</a:t>
            </a:r>
            <a:endParaRPr b="1"/>
          </a:p>
          <a:p>
            <a:pPr indent="-330200" lvl="0" marL="457200" rtl="0" algn="l">
              <a:spcBef>
                <a:spcPts val="1200"/>
              </a:spcBef>
              <a:spcAft>
                <a:spcPts val="0"/>
              </a:spcAft>
              <a:buClr>
                <a:schemeClr val="lt2"/>
              </a:buClr>
              <a:buSzPts val="1600"/>
              <a:buChar char="●"/>
            </a:pPr>
            <a:r>
              <a:rPr b="1" lang="en" sz="1600"/>
              <a:t>Communication Protocols</a:t>
            </a:r>
            <a:r>
              <a:rPr lang="en" sz="1600"/>
              <a:t>: Data is transmitted from IoT devices to central systems or cloud platforms using various communication protocols.</a:t>
            </a:r>
            <a:endParaRPr sz="1600"/>
          </a:p>
          <a:p>
            <a:pPr indent="0" lvl="0" marL="457200" rtl="0" algn="l">
              <a:spcBef>
                <a:spcPts val="1200"/>
              </a:spcBef>
              <a:spcAft>
                <a:spcPts val="0"/>
              </a:spcAft>
              <a:buNone/>
            </a:pPr>
            <a:r>
              <a:t/>
            </a:r>
            <a:endParaRPr sz="1600"/>
          </a:p>
          <a:p>
            <a:pPr indent="0" lvl="0" marL="0" rtl="0" algn="l">
              <a:spcBef>
                <a:spcPts val="1200"/>
              </a:spcBef>
              <a:spcAft>
                <a:spcPts val="1200"/>
              </a:spcAft>
              <a:buNone/>
            </a:pPr>
            <a:r>
              <a:t/>
            </a:r>
            <a:endParaRPr sz="23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a:t>Data Storage</a:t>
            </a:r>
            <a:endParaRPr b="1"/>
          </a:p>
          <a:p>
            <a:pPr indent="-330200" lvl="0" marL="457200" rtl="0" algn="l">
              <a:spcBef>
                <a:spcPts val="1200"/>
              </a:spcBef>
              <a:spcAft>
                <a:spcPts val="0"/>
              </a:spcAft>
              <a:buClr>
                <a:schemeClr val="lt2"/>
              </a:buClr>
              <a:buSzPts val="1600"/>
              <a:buChar char="●"/>
            </a:pPr>
            <a:r>
              <a:rPr b="1" lang="en" sz="1600"/>
              <a:t>Edge Storage</a:t>
            </a:r>
            <a:r>
              <a:rPr lang="en" sz="1600"/>
              <a:t>: Some data is stored locally on edge devices to reduce latency and bandwidth usage.</a:t>
            </a:r>
            <a:endParaRPr sz="1600"/>
          </a:p>
          <a:p>
            <a:pPr indent="-330200" lvl="0" marL="457200" rtl="0" algn="l">
              <a:spcBef>
                <a:spcPts val="0"/>
              </a:spcBef>
              <a:spcAft>
                <a:spcPts val="0"/>
              </a:spcAft>
              <a:buClr>
                <a:schemeClr val="lt2"/>
              </a:buClr>
              <a:buSzPts val="1600"/>
              <a:buChar char="●"/>
            </a:pPr>
            <a:r>
              <a:rPr b="1" lang="en" sz="1600"/>
              <a:t>Cloud Storage</a:t>
            </a:r>
            <a:r>
              <a:rPr lang="en" sz="1600"/>
              <a:t>: Data is often sent to cloud-based storage solutions for scalability, backup, and more extensive processing.</a:t>
            </a:r>
            <a:endParaRPr sz="1600"/>
          </a:p>
          <a:p>
            <a:pPr indent="-330200" lvl="0" marL="457200" rtl="0" algn="l">
              <a:spcBef>
                <a:spcPts val="0"/>
              </a:spcBef>
              <a:spcAft>
                <a:spcPts val="0"/>
              </a:spcAft>
              <a:buClr>
                <a:schemeClr val="lt2"/>
              </a:buClr>
              <a:buSzPts val="1600"/>
              <a:buChar char="●"/>
            </a:pPr>
            <a:r>
              <a:rPr b="1" lang="en" sz="1600"/>
              <a:t>Databases</a:t>
            </a:r>
            <a:r>
              <a:rPr lang="en" sz="1600"/>
              <a:t>: Various types of databases are used, including relational databases (SQL) for structured data and NoSQL databases for unstructured or semi-structured data.</a:t>
            </a:r>
            <a:endParaRPr sz="1600"/>
          </a:p>
          <a:p>
            <a:pPr indent="0" lvl="0" marL="0" rtl="0" algn="l">
              <a:spcBef>
                <a:spcPts val="1200"/>
              </a:spcBef>
              <a:spcAft>
                <a:spcPts val="120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9"/>
          <p:cNvSpPr txBox="1"/>
          <p:nvPr>
            <p:ph idx="1" type="body"/>
          </p:nvPr>
        </p:nvSpPr>
        <p:spPr>
          <a:xfrm>
            <a:off x="311700" y="301000"/>
            <a:ext cx="8520600" cy="34164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a:t>Data Processing</a:t>
            </a:r>
            <a:endParaRPr b="1"/>
          </a:p>
          <a:p>
            <a:pPr indent="-330200" lvl="0" marL="457200" rtl="0" algn="l">
              <a:spcBef>
                <a:spcPts val="1200"/>
              </a:spcBef>
              <a:spcAft>
                <a:spcPts val="0"/>
              </a:spcAft>
              <a:buClr>
                <a:schemeClr val="lt2"/>
              </a:buClr>
              <a:buSzPts val="1600"/>
              <a:buChar char="●"/>
            </a:pPr>
            <a:r>
              <a:rPr b="1" lang="en" sz="1600"/>
              <a:t>Real-Time Processing</a:t>
            </a:r>
            <a:r>
              <a:rPr lang="en" sz="1600"/>
              <a:t>: Data can be processed in real-time at the edge or through streaming platforms to provide immediate insights and responses.</a:t>
            </a:r>
            <a:endParaRPr sz="1600"/>
          </a:p>
          <a:p>
            <a:pPr indent="-330200" lvl="0" marL="457200" rtl="0" algn="l">
              <a:spcBef>
                <a:spcPts val="0"/>
              </a:spcBef>
              <a:spcAft>
                <a:spcPts val="0"/>
              </a:spcAft>
              <a:buClr>
                <a:schemeClr val="lt2"/>
              </a:buClr>
              <a:buSzPts val="1600"/>
              <a:buChar char="●"/>
            </a:pPr>
            <a:r>
              <a:rPr b="1" lang="en" sz="1600"/>
              <a:t>Batch Processing</a:t>
            </a:r>
            <a:r>
              <a:rPr lang="en" sz="1600"/>
              <a:t>: Large volumes of data can be processed in batches for detailed analysis and reporting.</a:t>
            </a:r>
            <a:endParaRPr sz="1600"/>
          </a:p>
          <a:p>
            <a:pPr indent="0" lvl="0" marL="457200" rtl="0" algn="l">
              <a:spcBef>
                <a:spcPts val="1200"/>
              </a:spcBef>
              <a:spcAft>
                <a:spcPts val="0"/>
              </a:spcAft>
              <a:buNone/>
            </a:pPr>
            <a:r>
              <a:t/>
            </a:r>
            <a:endParaRPr sz="1600"/>
          </a:p>
          <a:p>
            <a:pPr indent="0" lvl="0" marL="0" rtl="0" algn="l">
              <a:spcBef>
                <a:spcPts val="1400"/>
              </a:spcBef>
              <a:spcAft>
                <a:spcPts val="0"/>
              </a:spcAft>
              <a:buNone/>
            </a:pPr>
            <a:r>
              <a:rPr b="1" lang="en"/>
              <a:t>Data Analytics</a:t>
            </a:r>
            <a:endParaRPr b="1"/>
          </a:p>
          <a:p>
            <a:pPr indent="-330200" lvl="0" marL="457200" rtl="0" algn="l">
              <a:spcBef>
                <a:spcPts val="1200"/>
              </a:spcBef>
              <a:spcAft>
                <a:spcPts val="0"/>
              </a:spcAft>
              <a:buClr>
                <a:schemeClr val="lt2"/>
              </a:buClr>
              <a:buSzPts val="1600"/>
              <a:buChar char="●"/>
            </a:pPr>
            <a:r>
              <a:rPr b="1" lang="en" sz="1600"/>
              <a:t>Descriptive Analytics</a:t>
            </a:r>
            <a:r>
              <a:rPr lang="en" sz="1600"/>
              <a:t>: Analyzing historical data to understand past behaviors and trends.</a:t>
            </a:r>
            <a:endParaRPr sz="1600"/>
          </a:p>
          <a:p>
            <a:pPr indent="-330200" lvl="0" marL="457200" rtl="0" algn="l">
              <a:spcBef>
                <a:spcPts val="0"/>
              </a:spcBef>
              <a:spcAft>
                <a:spcPts val="0"/>
              </a:spcAft>
              <a:buClr>
                <a:schemeClr val="lt2"/>
              </a:buClr>
              <a:buSzPts val="1600"/>
              <a:buChar char="●"/>
            </a:pPr>
            <a:r>
              <a:rPr b="1" lang="en" sz="1600"/>
              <a:t>Predictive Analytics</a:t>
            </a:r>
            <a:r>
              <a:rPr lang="en" sz="1600"/>
              <a:t>: Using statistical models and machine learning algorithms to predict future events or behaviors based on historical data.</a:t>
            </a:r>
            <a:endParaRPr sz="1600"/>
          </a:p>
          <a:p>
            <a:pPr indent="-330200" lvl="0" marL="457200" rtl="0" algn="l">
              <a:spcBef>
                <a:spcPts val="0"/>
              </a:spcBef>
              <a:spcAft>
                <a:spcPts val="0"/>
              </a:spcAft>
              <a:buClr>
                <a:schemeClr val="lt2"/>
              </a:buClr>
              <a:buSzPts val="1600"/>
              <a:buChar char="●"/>
            </a:pPr>
            <a:r>
              <a:rPr b="1" lang="en" sz="1600"/>
              <a:t>Prescriptive Analytics</a:t>
            </a:r>
            <a:r>
              <a:rPr lang="en" sz="1600"/>
              <a:t>: Providing actionable recommendations based on data analysis to optimize operations or decision-making.</a:t>
            </a:r>
            <a:endParaRPr sz="1600"/>
          </a:p>
          <a:p>
            <a:pPr indent="0" lvl="0" marL="0" rtl="0" algn="l">
              <a:spcBef>
                <a:spcPts val="1200"/>
              </a:spcBef>
              <a:spcAft>
                <a:spcPts val="1200"/>
              </a:spcAft>
              <a:buNone/>
            </a:pPr>
            <a:r>
              <a:t/>
            </a:r>
            <a:endParaRPr sz="20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60"/>
          <p:cNvSpPr txBox="1"/>
          <p:nvPr>
            <p:ph idx="1" type="body"/>
          </p:nvPr>
        </p:nvSpPr>
        <p:spPr>
          <a:xfrm>
            <a:off x="311700" y="863550"/>
            <a:ext cx="8520600" cy="3904800"/>
          </a:xfrm>
          <a:prstGeom prst="rect">
            <a:avLst/>
          </a:prstGeom>
        </p:spPr>
        <p:txBody>
          <a:bodyPr anchorCtr="0" anchor="t" bIns="91425" lIns="91425" spcFirstLastPara="1" rIns="91425" wrap="square" tIns="91425">
            <a:normAutofit fontScale="70000" lnSpcReduction="10000"/>
          </a:bodyPr>
          <a:lstStyle/>
          <a:p>
            <a:pPr indent="0" lvl="0" marL="0" rtl="0" algn="l">
              <a:spcBef>
                <a:spcPts val="1400"/>
              </a:spcBef>
              <a:spcAft>
                <a:spcPts val="0"/>
              </a:spcAft>
              <a:buNone/>
            </a:pPr>
            <a:r>
              <a:rPr b="1" lang="en" sz="2315"/>
              <a:t>6. Data Visualization</a:t>
            </a:r>
            <a:endParaRPr b="1" sz="2315"/>
          </a:p>
          <a:p>
            <a:pPr indent="-322624" lvl="0" marL="457200" rtl="0" algn="l">
              <a:spcBef>
                <a:spcPts val="1200"/>
              </a:spcBef>
              <a:spcAft>
                <a:spcPts val="0"/>
              </a:spcAft>
              <a:buClr>
                <a:schemeClr val="lt2"/>
              </a:buClr>
              <a:buSzPct val="100000"/>
              <a:buChar char="●"/>
            </a:pPr>
            <a:r>
              <a:rPr b="1" lang="en" sz="2115"/>
              <a:t>Dashboards</a:t>
            </a:r>
            <a:r>
              <a:rPr lang="en" sz="2115"/>
              <a:t>: Creating visual dashboards to present data insights in an easily understandable format for stakeholders.</a:t>
            </a:r>
            <a:endParaRPr sz="2115"/>
          </a:p>
          <a:p>
            <a:pPr indent="-322624" lvl="0" marL="457200" rtl="0" algn="l">
              <a:spcBef>
                <a:spcPts val="0"/>
              </a:spcBef>
              <a:spcAft>
                <a:spcPts val="0"/>
              </a:spcAft>
              <a:buClr>
                <a:schemeClr val="lt2"/>
              </a:buClr>
              <a:buSzPct val="100000"/>
              <a:buChar char="●"/>
            </a:pPr>
            <a:r>
              <a:rPr b="1" lang="en" sz="2115"/>
              <a:t>Reports</a:t>
            </a:r>
            <a:r>
              <a:rPr lang="en" sz="2115"/>
              <a:t>: Generating detailed reports to communicate findings, trends, and actionable insights.</a:t>
            </a:r>
            <a:endParaRPr sz="2115"/>
          </a:p>
          <a:p>
            <a:pPr indent="0" lvl="0" marL="457200" rtl="0" algn="l">
              <a:spcBef>
                <a:spcPts val="1200"/>
              </a:spcBef>
              <a:spcAft>
                <a:spcPts val="0"/>
              </a:spcAft>
              <a:buNone/>
            </a:pPr>
            <a:r>
              <a:t/>
            </a:r>
            <a:endParaRPr sz="2115"/>
          </a:p>
          <a:p>
            <a:pPr indent="0" lvl="0" marL="0" rtl="0" algn="l">
              <a:spcBef>
                <a:spcPts val="1400"/>
              </a:spcBef>
              <a:spcAft>
                <a:spcPts val="0"/>
              </a:spcAft>
              <a:buNone/>
            </a:pPr>
            <a:r>
              <a:rPr b="1" lang="en" sz="2315"/>
              <a:t>7. Data Security</a:t>
            </a:r>
            <a:endParaRPr b="1" sz="2315"/>
          </a:p>
          <a:p>
            <a:pPr indent="-322624" lvl="0" marL="457200" rtl="0" algn="l">
              <a:spcBef>
                <a:spcPts val="1200"/>
              </a:spcBef>
              <a:spcAft>
                <a:spcPts val="0"/>
              </a:spcAft>
              <a:buClr>
                <a:schemeClr val="lt2"/>
              </a:buClr>
              <a:buSzPct val="100000"/>
              <a:buChar char="●"/>
            </a:pPr>
            <a:r>
              <a:rPr b="1" lang="en" sz="2115"/>
              <a:t>Encryption</a:t>
            </a:r>
            <a:r>
              <a:rPr lang="en" sz="2115"/>
              <a:t>: Securing data during transmission and storage using encryption protocols to prevent unauthorized access.</a:t>
            </a:r>
            <a:endParaRPr sz="2115"/>
          </a:p>
          <a:p>
            <a:pPr indent="-322624" lvl="0" marL="457200" rtl="0" algn="l">
              <a:spcBef>
                <a:spcPts val="0"/>
              </a:spcBef>
              <a:spcAft>
                <a:spcPts val="0"/>
              </a:spcAft>
              <a:buClr>
                <a:schemeClr val="lt2"/>
              </a:buClr>
              <a:buSzPct val="100000"/>
              <a:buChar char="●"/>
            </a:pPr>
            <a:r>
              <a:rPr b="1" lang="en" sz="2115"/>
              <a:t>Access Control</a:t>
            </a:r>
            <a:r>
              <a:rPr lang="en" sz="2115"/>
              <a:t>: Implementing robust authentication and authorization mechanisms to control who can access and manage data.</a:t>
            </a:r>
            <a:endParaRPr sz="2115"/>
          </a:p>
          <a:p>
            <a:pPr indent="0" lvl="0" marL="457200" rtl="0" algn="l">
              <a:spcBef>
                <a:spcPts val="1200"/>
              </a:spcBef>
              <a:spcAft>
                <a:spcPts val="0"/>
              </a:spcAft>
              <a:buNone/>
            </a:pPr>
            <a:r>
              <a:t/>
            </a:r>
            <a:endParaRPr sz="1500"/>
          </a:p>
          <a:p>
            <a:pPr indent="0" lvl="0" marL="0" rtl="0" algn="l">
              <a:spcBef>
                <a:spcPts val="1200"/>
              </a:spcBef>
              <a:spcAft>
                <a:spcPts val="120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61"/>
          <p:cNvSpPr txBox="1"/>
          <p:nvPr>
            <p:ph idx="1" type="body"/>
          </p:nvPr>
        </p:nvSpPr>
        <p:spPr>
          <a:xfrm>
            <a:off x="311700" y="602750"/>
            <a:ext cx="8520600" cy="39660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sz="1908"/>
              <a:t>9. Data Privacy</a:t>
            </a:r>
            <a:endParaRPr b="1" sz="1908"/>
          </a:p>
          <a:p>
            <a:pPr indent="-337065" lvl="0" marL="457200" rtl="0" algn="l">
              <a:spcBef>
                <a:spcPts val="1200"/>
              </a:spcBef>
              <a:spcAft>
                <a:spcPts val="0"/>
              </a:spcAft>
              <a:buClr>
                <a:schemeClr val="lt2"/>
              </a:buClr>
              <a:buSzPts val="1708"/>
              <a:buChar char="●"/>
            </a:pPr>
            <a:r>
              <a:rPr b="1" lang="en" sz="1708"/>
              <a:t>Anonymization</a:t>
            </a:r>
            <a:r>
              <a:rPr lang="en" sz="1708"/>
              <a:t>: Removing or obscuring personal identifiers from data to protect user privacy.</a:t>
            </a:r>
            <a:endParaRPr sz="1708"/>
          </a:p>
          <a:p>
            <a:pPr indent="-337065" lvl="0" marL="457200" rtl="0" algn="l">
              <a:spcBef>
                <a:spcPts val="0"/>
              </a:spcBef>
              <a:spcAft>
                <a:spcPts val="0"/>
              </a:spcAft>
              <a:buClr>
                <a:schemeClr val="lt2"/>
              </a:buClr>
              <a:buSzPts val="1708"/>
              <a:buChar char="●"/>
            </a:pPr>
            <a:r>
              <a:rPr b="1" lang="en" sz="1708"/>
              <a:t>Data Retention Policies</a:t>
            </a:r>
            <a:r>
              <a:rPr lang="en" sz="1708"/>
              <a:t>: Implementing policies on how long data is retained and ensuring it is disposed of securely when no longer needed.</a:t>
            </a:r>
            <a:endParaRPr sz="1708"/>
          </a:p>
          <a:p>
            <a:pPr indent="0" lvl="0" marL="0" rtl="0" algn="l">
              <a:spcBef>
                <a:spcPts val="1200"/>
              </a:spcBef>
              <a:spcAft>
                <a:spcPts val="120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62"/>
          <p:cNvSpPr txBox="1"/>
          <p:nvPr>
            <p:ph idx="1" type="body"/>
          </p:nvPr>
        </p:nvSpPr>
        <p:spPr>
          <a:xfrm>
            <a:off x="311700" y="804225"/>
            <a:ext cx="8520600" cy="4058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Business processes in IoT.</a:t>
            </a:r>
            <a:endParaRPr/>
          </a:p>
          <a:p>
            <a:pPr indent="0" lvl="0" marL="0" rtl="0" algn="l">
              <a:spcBef>
                <a:spcPts val="1200"/>
              </a:spcBef>
              <a:spcAft>
                <a:spcPts val="0"/>
              </a:spcAft>
              <a:buNone/>
            </a:pPr>
            <a:r>
              <a:rPr lang="en"/>
              <a:t>Business processes in the Internet of Things (IoT) involve the integration of IoT technology into various organizational activities to improve efficiency, productivity, and decision-making.</a:t>
            </a:r>
            <a:endParaRPr sz="2100"/>
          </a:p>
          <a:p>
            <a:pPr indent="0" lvl="0" marL="0" rtl="0" algn="l">
              <a:spcBef>
                <a:spcPts val="1400"/>
              </a:spcBef>
              <a:spcAft>
                <a:spcPts val="0"/>
              </a:spcAft>
              <a:buNone/>
            </a:pPr>
            <a:r>
              <a:rPr b="1" lang="en"/>
              <a:t>Operational Efficiency</a:t>
            </a:r>
            <a:endParaRPr b="1"/>
          </a:p>
          <a:p>
            <a:pPr indent="-330200" lvl="0" marL="457200" rtl="0" algn="l">
              <a:spcBef>
                <a:spcPts val="1200"/>
              </a:spcBef>
              <a:spcAft>
                <a:spcPts val="0"/>
              </a:spcAft>
              <a:buClr>
                <a:schemeClr val="lt2"/>
              </a:buClr>
              <a:buSzPts val="1600"/>
              <a:buChar char="●"/>
            </a:pPr>
            <a:r>
              <a:rPr b="1" lang="en" sz="1600"/>
              <a:t>Automation</a:t>
            </a:r>
            <a:r>
              <a:rPr lang="en" sz="1600"/>
              <a:t>: IoT enables automation of routine tasks by integrating devices that can perform actions based on data. For example, smart thermostats can adjust temperatures automatically, and smart lighting systems can turn on/off based on occupancy.</a:t>
            </a:r>
            <a:endParaRPr sz="1600"/>
          </a:p>
          <a:p>
            <a:pPr indent="-330200" lvl="0" marL="457200" rtl="0" algn="l">
              <a:spcBef>
                <a:spcPts val="0"/>
              </a:spcBef>
              <a:spcAft>
                <a:spcPts val="0"/>
              </a:spcAft>
              <a:buClr>
                <a:schemeClr val="lt2"/>
              </a:buClr>
              <a:buSzPts val="1600"/>
              <a:buChar char="●"/>
            </a:pPr>
            <a:r>
              <a:rPr b="1" lang="en" sz="1600"/>
              <a:t>Predictive Maintenance</a:t>
            </a:r>
            <a:r>
              <a:rPr lang="en" sz="1600"/>
              <a:t>: IoT devices can monitor equipment health and predict failures before they occur, allowing for timely maintenance and reducing downtime.</a:t>
            </a:r>
            <a:endParaRPr sz="1600"/>
          </a:p>
          <a:p>
            <a:pPr indent="0" lvl="0" marL="0" rtl="0" algn="l">
              <a:spcBef>
                <a:spcPts val="1200"/>
              </a:spcBef>
              <a:spcAft>
                <a:spcPts val="120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63"/>
          <p:cNvSpPr txBox="1"/>
          <p:nvPr>
            <p:ph idx="1" type="body"/>
          </p:nvPr>
        </p:nvSpPr>
        <p:spPr>
          <a:xfrm>
            <a:off x="164350" y="863550"/>
            <a:ext cx="8520600" cy="38379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sz="1600"/>
              <a:t>Supply Chain Management</a:t>
            </a:r>
            <a:endParaRPr b="1" sz="1600"/>
          </a:p>
          <a:p>
            <a:pPr indent="-317500" lvl="0" marL="457200" rtl="0" algn="l">
              <a:spcBef>
                <a:spcPts val="1200"/>
              </a:spcBef>
              <a:spcAft>
                <a:spcPts val="0"/>
              </a:spcAft>
              <a:buClr>
                <a:schemeClr val="lt2"/>
              </a:buClr>
              <a:buSzPts val="1400"/>
              <a:buChar char="●"/>
            </a:pPr>
            <a:r>
              <a:rPr b="1" lang="en" sz="1400"/>
              <a:t>Inventory Tracking</a:t>
            </a:r>
            <a:r>
              <a:rPr lang="en" sz="1400"/>
              <a:t>: IoT sensors can track inventory levels in real-time, reducing the chances of overstocking or stockouts.</a:t>
            </a:r>
            <a:endParaRPr sz="1400"/>
          </a:p>
          <a:p>
            <a:pPr indent="-317500" lvl="0" marL="457200" rtl="0" algn="l">
              <a:spcBef>
                <a:spcPts val="0"/>
              </a:spcBef>
              <a:spcAft>
                <a:spcPts val="0"/>
              </a:spcAft>
              <a:buClr>
                <a:schemeClr val="lt2"/>
              </a:buClr>
              <a:buSzPts val="1400"/>
              <a:buChar char="●"/>
            </a:pPr>
            <a:r>
              <a:rPr b="1" lang="en" sz="1400"/>
              <a:t>Logistics</a:t>
            </a:r>
            <a:r>
              <a:rPr lang="en" sz="1400"/>
              <a:t>: IoT devices monitor the condition and location of goods in transit, improving supply chain transparency and reducing losses.</a:t>
            </a:r>
            <a:endParaRPr sz="1400"/>
          </a:p>
          <a:p>
            <a:pPr indent="0" lvl="0" marL="0" rtl="0" algn="l">
              <a:spcBef>
                <a:spcPts val="1400"/>
              </a:spcBef>
              <a:spcAft>
                <a:spcPts val="0"/>
              </a:spcAft>
              <a:buNone/>
            </a:pPr>
            <a:r>
              <a:rPr b="1" lang="en" sz="1600"/>
              <a:t>Cost Management</a:t>
            </a:r>
            <a:endParaRPr b="1" sz="1600"/>
          </a:p>
          <a:p>
            <a:pPr indent="-317500" lvl="0" marL="457200" rtl="0" algn="l">
              <a:spcBef>
                <a:spcPts val="1200"/>
              </a:spcBef>
              <a:spcAft>
                <a:spcPts val="0"/>
              </a:spcAft>
              <a:buClr>
                <a:schemeClr val="lt2"/>
              </a:buClr>
              <a:buSzPts val="1400"/>
              <a:buChar char="●"/>
            </a:pPr>
            <a:r>
              <a:rPr b="1" lang="en" sz="1400"/>
              <a:t>Operational Costs</a:t>
            </a:r>
            <a:r>
              <a:rPr lang="en" sz="1400"/>
              <a:t>: By improving efficiency and automating processes, IoT can lead to significant cost savings in operations and maintenance.</a:t>
            </a:r>
            <a:endParaRPr sz="1400"/>
          </a:p>
          <a:p>
            <a:pPr indent="-317500" lvl="0" marL="457200" rtl="0" algn="l">
              <a:spcBef>
                <a:spcPts val="0"/>
              </a:spcBef>
              <a:spcAft>
                <a:spcPts val="0"/>
              </a:spcAft>
              <a:buClr>
                <a:schemeClr val="lt2"/>
              </a:buClr>
              <a:buSzPts val="1400"/>
              <a:buChar char="●"/>
            </a:pPr>
            <a:r>
              <a:rPr b="1" lang="en" sz="1400"/>
              <a:t>Resource Optimization</a:t>
            </a:r>
            <a:r>
              <a:rPr lang="en" sz="1400"/>
              <a:t>: IoT helps in better utilization of resources, which can lead to reduced operational expenses.</a:t>
            </a:r>
            <a:endParaRPr sz="1400"/>
          </a:p>
          <a:p>
            <a:pPr indent="-317500" lvl="0" marL="457200" rtl="0" algn="l">
              <a:spcBef>
                <a:spcPts val="0"/>
              </a:spcBef>
              <a:spcAft>
                <a:spcPts val="0"/>
              </a:spcAft>
              <a:buClr>
                <a:srgbClr val="000000"/>
              </a:buClr>
              <a:buSzPts val="1400"/>
              <a:buChar char="●"/>
            </a:pPr>
            <a:r>
              <a:rPr b="1" lang="en" sz="1500"/>
              <a:t>Efficiency</a:t>
            </a:r>
            <a:r>
              <a:rPr lang="en" sz="1500"/>
              <a:t>: IoT solutions can monitor and control energy usage across facilities, optimizing energy consumption and reducing costs.</a:t>
            </a:r>
            <a:endParaRPr sz="14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64"/>
          <p:cNvSpPr txBox="1"/>
          <p:nvPr>
            <p:ph idx="1" type="body"/>
          </p:nvPr>
        </p:nvSpPr>
        <p:spPr>
          <a:xfrm>
            <a:off x="311700" y="603300"/>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t/>
            </a:r>
            <a:endParaRPr sz="1500"/>
          </a:p>
          <a:p>
            <a:pPr indent="0" lvl="0" marL="0" rtl="0" algn="l">
              <a:spcBef>
                <a:spcPts val="1400"/>
              </a:spcBef>
              <a:spcAft>
                <a:spcPts val="0"/>
              </a:spcAft>
              <a:buNone/>
            </a:pPr>
            <a:r>
              <a:rPr b="1" lang="en" sz="1700"/>
              <a:t>Product Development and Innovation</a:t>
            </a:r>
            <a:endParaRPr b="1" sz="1700"/>
          </a:p>
          <a:p>
            <a:pPr indent="-323850" lvl="0" marL="457200" rtl="0" algn="l">
              <a:spcBef>
                <a:spcPts val="1200"/>
              </a:spcBef>
              <a:spcAft>
                <a:spcPts val="0"/>
              </a:spcAft>
              <a:buClr>
                <a:schemeClr val="lt2"/>
              </a:buClr>
              <a:buSzPts val="1500"/>
              <a:buChar char="●"/>
            </a:pPr>
            <a:r>
              <a:rPr b="1" lang="en" sz="1500"/>
              <a:t>Feedback Loop</a:t>
            </a:r>
            <a:r>
              <a:rPr lang="en" sz="1500"/>
              <a:t>: IoT devices provide continuous feedback on product performance and usage, informing improvements and new features.</a:t>
            </a:r>
            <a:endParaRPr sz="1500"/>
          </a:p>
          <a:p>
            <a:pPr indent="-323850" lvl="0" marL="457200" rtl="0" algn="l">
              <a:spcBef>
                <a:spcPts val="0"/>
              </a:spcBef>
              <a:spcAft>
                <a:spcPts val="0"/>
              </a:spcAft>
              <a:buClr>
                <a:schemeClr val="lt2"/>
              </a:buClr>
              <a:buSzPts val="1500"/>
              <a:buChar char="●"/>
            </a:pPr>
            <a:r>
              <a:rPr b="1" lang="en" sz="1500"/>
              <a:t>Prototyping</a:t>
            </a:r>
            <a:r>
              <a:rPr lang="en" sz="1500"/>
              <a:t>: Rapid prototyping and testing of IoT-enabled products can accelerate innovation and time-to-market.</a:t>
            </a:r>
            <a:endParaRPr sz="1500"/>
          </a:p>
          <a:p>
            <a:pPr indent="0" lvl="0" marL="0" rtl="0" algn="l">
              <a:spcBef>
                <a:spcPts val="1200"/>
              </a:spcBef>
              <a:spcAft>
                <a:spcPts val="0"/>
              </a:spcAft>
              <a:buNone/>
            </a:pPr>
            <a:r>
              <a:rPr b="1" lang="en" sz="1600"/>
              <a:t>Strategic Decision-Making</a:t>
            </a:r>
            <a:endParaRPr b="1" sz="1600"/>
          </a:p>
          <a:p>
            <a:pPr indent="-317500" lvl="0" marL="457200" rtl="0" algn="l">
              <a:spcBef>
                <a:spcPts val="1200"/>
              </a:spcBef>
              <a:spcAft>
                <a:spcPts val="0"/>
              </a:spcAft>
              <a:buClr>
                <a:schemeClr val="lt2"/>
              </a:buClr>
              <a:buSzPts val="1400"/>
              <a:buChar char="●"/>
            </a:pPr>
            <a:r>
              <a:rPr b="1" lang="en" sz="1400"/>
              <a:t>Insights</a:t>
            </a:r>
            <a:r>
              <a:rPr lang="en" sz="1400"/>
              <a:t>: The data generated by IoT devices provides valuable insights that can drive strategic decisions and long-term planning.</a:t>
            </a:r>
            <a:endParaRPr sz="1400"/>
          </a:p>
          <a:p>
            <a:pPr indent="-317500" lvl="0" marL="457200" rtl="0" algn="l">
              <a:spcBef>
                <a:spcPts val="0"/>
              </a:spcBef>
              <a:spcAft>
                <a:spcPts val="0"/>
              </a:spcAft>
              <a:buClr>
                <a:schemeClr val="lt2"/>
              </a:buClr>
              <a:buSzPts val="1400"/>
              <a:buChar char="●"/>
            </a:pPr>
            <a:r>
              <a:rPr b="1" lang="en" sz="1400"/>
              <a:t>Competitive Advantage</a:t>
            </a:r>
            <a:r>
              <a:rPr lang="en" sz="1400"/>
              <a:t>: Businesses that leverage IoT effectively can gain a competitive edge through improved efficiency, customer experience, and innovation.</a:t>
            </a:r>
            <a:endParaRPr sz="22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65"/>
          <p:cNvSpPr txBox="1"/>
          <p:nvPr>
            <p:ph idx="1" type="body"/>
          </p:nvPr>
        </p:nvSpPr>
        <p:spPr>
          <a:xfrm>
            <a:off x="311700" y="736700"/>
            <a:ext cx="8520600" cy="3924600"/>
          </a:xfrm>
          <a:prstGeom prst="rect">
            <a:avLst/>
          </a:prstGeom>
        </p:spPr>
        <p:txBody>
          <a:bodyPr anchorCtr="0" anchor="t" bIns="91425" lIns="91425" spcFirstLastPara="1" rIns="91425" wrap="square" tIns="91425">
            <a:noAutofit/>
          </a:bodyPr>
          <a:lstStyle/>
          <a:p>
            <a:pPr indent="-317500" lvl="0" marL="457200" rtl="0" algn="l">
              <a:lnSpc>
                <a:spcPct val="105000"/>
              </a:lnSpc>
              <a:spcBef>
                <a:spcPts val="1400"/>
              </a:spcBef>
              <a:spcAft>
                <a:spcPts val="0"/>
              </a:spcAft>
              <a:buSzPts val="1400"/>
              <a:buChar char="●"/>
            </a:pPr>
            <a:r>
              <a:rPr b="1" lang="en" sz="1400"/>
              <a:t>Remote Management</a:t>
            </a:r>
            <a:endParaRPr b="1" sz="1400"/>
          </a:p>
          <a:p>
            <a:pPr indent="-317500" lvl="0" marL="457200" rtl="0" algn="l">
              <a:lnSpc>
                <a:spcPct val="105000"/>
              </a:lnSpc>
              <a:spcBef>
                <a:spcPts val="0"/>
              </a:spcBef>
              <a:spcAft>
                <a:spcPts val="0"/>
              </a:spcAft>
              <a:buSzPts val="1400"/>
              <a:buChar char="●"/>
            </a:pPr>
            <a:r>
              <a:rPr b="1" lang="en" sz="1400"/>
              <a:t>Security</a:t>
            </a:r>
            <a:endParaRPr b="1" sz="1400"/>
          </a:p>
          <a:p>
            <a:pPr indent="0" lvl="0" marL="457200" rtl="0" algn="l">
              <a:lnSpc>
                <a:spcPct val="105000"/>
              </a:lnSpc>
              <a:spcBef>
                <a:spcPts val="1200"/>
              </a:spcBef>
              <a:spcAft>
                <a:spcPts val="0"/>
              </a:spcAft>
              <a:buNone/>
            </a:pPr>
            <a:r>
              <a:t/>
            </a:r>
            <a:endParaRPr sz="1500"/>
          </a:p>
          <a:p>
            <a:pPr indent="0" lvl="0" marL="0" rtl="0" algn="l">
              <a:lnSpc>
                <a:spcPct val="105000"/>
              </a:lnSpc>
              <a:spcBef>
                <a:spcPts val="1200"/>
              </a:spcBef>
              <a:spcAft>
                <a:spcPts val="1200"/>
              </a:spcAft>
              <a:buNone/>
            </a:pPr>
            <a:r>
              <a:t/>
            </a:r>
            <a:endParaRPr sz="22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66"/>
          <p:cNvSpPr txBox="1"/>
          <p:nvPr>
            <p:ph idx="1" type="body"/>
          </p:nvPr>
        </p:nvSpPr>
        <p:spPr>
          <a:xfrm>
            <a:off x="311700" y="242525"/>
            <a:ext cx="8520600" cy="4326300"/>
          </a:xfrm>
          <a:prstGeom prst="rect">
            <a:avLst/>
          </a:prstGeom>
        </p:spPr>
        <p:txBody>
          <a:bodyPr anchorCtr="0" anchor="t" bIns="91425" lIns="91425" spcFirstLastPara="1" rIns="91425" wrap="square" tIns="91425">
            <a:normAutofit fontScale="92500"/>
          </a:bodyPr>
          <a:lstStyle/>
          <a:p>
            <a:pPr indent="-328453" lvl="0" marL="457200" rtl="0" algn="l">
              <a:spcBef>
                <a:spcPts val="0"/>
              </a:spcBef>
              <a:spcAft>
                <a:spcPts val="0"/>
              </a:spcAft>
              <a:buClr>
                <a:schemeClr val="dk1"/>
              </a:buClr>
              <a:buSzPct val="100000"/>
              <a:buFont typeface="Bookman Old Style"/>
              <a:buAutoNum type="arabicPeriod"/>
            </a:pPr>
            <a:r>
              <a:rPr lang="en" sz="1700">
                <a:solidFill>
                  <a:schemeClr val="dk1"/>
                </a:solidFill>
                <a:latin typeface="Bookman Old Style"/>
                <a:ea typeface="Bookman Old Style"/>
                <a:cs typeface="Bookman Old Style"/>
                <a:sym typeface="Bookman Old Style"/>
              </a:rPr>
              <a:t>Explain the key aspects of data management in the Internet of Things (IoT) framework.</a:t>
            </a:r>
            <a:endParaRPr sz="1700">
              <a:solidFill>
                <a:schemeClr val="dk1"/>
              </a:solidFill>
              <a:latin typeface="Bookman Old Style"/>
              <a:ea typeface="Bookman Old Style"/>
              <a:cs typeface="Bookman Old Style"/>
              <a:sym typeface="Bookman Old Style"/>
            </a:endParaRPr>
          </a:p>
          <a:p>
            <a:pPr indent="-328453" lvl="0" marL="457200" rtl="0" algn="l">
              <a:spcBef>
                <a:spcPts val="0"/>
              </a:spcBef>
              <a:spcAft>
                <a:spcPts val="0"/>
              </a:spcAft>
              <a:buClr>
                <a:schemeClr val="dk1"/>
              </a:buClr>
              <a:buSzPct val="100000"/>
              <a:buFont typeface="Bookman Old Style"/>
              <a:buAutoNum type="arabicPeriod"/>
            </a:pPr>
            <a:r>
              <a:rPr lang="en" sz="1700">
                <a:solidFill>
                  <a:schemeClr val="dk1"/>
                </a:solidFill>
                <a:latin typeface="Bookman Old Style"/>
                <a:ea typeface="Bookman Old Style"/>
                <a:cs typeface="Bookman Old Style"/>
                <a:sym typeface="Bookman Old Style"/>
              </a:rPr>
              <a:t>Explain the 4 layer IoT architecture with a neat diagram.</a:t>
            </a:r>
            <a:endParaRPr sz="1700">
              <a:solidFill>
                <a:schemeClr val="dk1"/>
              </a:solidFill>
              <a:latin typeface="Bookman Old Style"/>
              <a:ea typeface="Bookman Old Style"/>
              <a:cs typeface="Bookman Old Style"/>
              <a:sym typeface="Bookman Old Style"/>
            </a:endParaRPr>
          </a:p>
          <a:p>
            <a:pPr indent="-328453" lvl="0" marL="457200" rtl="0" algn="l">
              <a:spcBef>
                <a:spcPts val="0"/>
              </a:spcBef>
              <a:spcAft>
                <a:spcPts val="0"/>
              </a:spcAft>
              <a:buClr>
                <a:schemeClr val="dk1"/>
              </a:buClr>
              <a:buSzPct val="100000"/>
              <a:buFont typeface="Bookman Old Style"/>
              <a:buAutoNum type="arabicPeriod"/>
            </a:pPr>
            <a:r>
              <a:rPr lang="en" sz="1700">
                <a:solidFill>
                  <a:schemeClr val="dk1"/>
                </a:solidFill>
                <a:latin typeface="Bookman Old Style"/>
                <a:ea typeface="Bookman Old Style"/>
                <a:cs typeface="Bookman Old Style"/>
                <a:sym typeface="Bookman Old Style"/>
              </a:rPr>
              <a:t>Explain the main design principle of IoT architecture in detail.</a:t>
            </a:r>
            <a:endParaRPr sz="1700">
              <a:solidFill>
                <a:schemeClr val="dk1"/>
              </a:solidFill>
              <a:latin typeface="Bookman Old Style"/>
              <a:ea typeface="Bookman Old Style"/>
              <a:cs typeface="Bookman Old Style"/>
              <a:sym typeface="Bookman Old Style"/>
            </a:endParaRPr>
          </a:p>
          <a:p>
            <a:pPr indent="-328453" lvl="0" marL="457200" rtl="0" algn="l">
              <a:spcBef>
                <a:spcPts val="0"/>
              </a:spcBef>
              <a:spcAft>
                <a:spcPts val="0"/>
              </a:spcAft>
              <a:buClr>
                <a:schemeClr val="dk1"/>
              </a:buClr>
              <a:buSzPct val="100000"/>
              <a:buFont typeface="Bookman Old Style"/>
              <a:buAutoNum type="arabicPeriod"/>
            </a:pPr>
            <a:r>
              <a:rPr lang="en" sz="1700">
                <a:solidFill>
                  <a:schemeClr val="dk1"/>
                </a:solidFill>
                <a:latin typeface="Bookman Old Style"/>
                <a:ea typeface="Bookman Old Style"/>
                <a:cs typeface="Bookman Old Style"/>
                <a:sym typeface="Bookman Old Style"/>
              </a:rPr>
              <a:t>What are the ten key considerations to keep in mind when creating an Internet of Things (IoT) device?</a:t>
            </a:r>
            <a:endParaRPr sz="1700">
              <a:solidFill>
                <a:schemeClr val="dk1"/>
              </a:solidFill>
              <a:latin typeface="Bookman Old Style"/>
              <a:ea typeface="Bookman Old Style"/>
              <a:cs typeface="Bookman Old Style"/>
              <a:sym typeface="Bookman Old Style"/>
            </a:endParaRPr>
          </a:p>
          <a:p>
            <a:pPr indent="-328453" lvl="0" marL="457200" rtl="0" algn="l">
              <a:spcBef>
                <a:spcPts val="0"/>
              </a:spcBef>
              <a:spcAft>
                <a:spcPts val="0"/>
              </a:spcAft>
              <a:buClr>
                <a:schemeClr val="dk1"/>
              </a:buClr>
              <a:buSzPct val="100000"/>
              <a:buFont typeface="Bookman Old Style"/>
              <a:buAutoNum type="arabicPeriod"/>
            </a:pPr>
            <a:r>
              <a:rPr lang="en" sz="1700">
                <a:solidFill>
                  <a:schemeClr val="dk1"/>
                </a:solidFill>
                <a:latin typeface="Bookman Old Style"/>
                <a:ea typeface="Bookman Old Style"/>
                <a:cs typeface="Bookman Old Style"/>
                <a:sym typeface="Bookman Old Style"/>
              </a:rPr>
              <a:t>Explain the basic building blocks of an IoT architecture with a neat diagram.</a:t>
            </a:r>
            <a:endParaRPr sz="1700">
              <a:solidFill>
                <a:schemeClr val="dk1"/>
              </a:solidFill>
              <a:latin typeface="Bookman Old Style"/>
              <a:ea typeface="Bookman Old Style"/>
              <a:cs typeface="Bookman Old Style"/>
              <a:sym typeface="Bookman Old Style"/>
            </a:endParaRPr>
          </a:p>
          <a:p>
            <a:pPr indent="-328453" lvl="0" marL="457200" rtl="0" algn="l">
              <a:spcBef>
                <a:spcPts val="0"/>
              </a:spcBef>
              <a:spcAft>
                <a:spcPts val="0"/>
              </a:spcAft>
              <a:buClr>
                <a:schemeClr val="dk1"/>
              </a:buClr>
              <a:buSzPct val="100000"/>
              <a:buFont typeface="Bookman Old Style"/>
              <a:buAutoNum type="arabicPeriod"/>
            </a:pPr>
            <a:r>
              <a:rPr lang="en" sz="1700">
                <a:solidFill>
                  <a:schemeClr val="dk1"/>
                </a:solidFill>
                <a:latin typeface="Bookman Old Style"/>
                <a:ea typeface="Bookman Old Style"/>
                <a:cs typeface="Bookman Old Style"/>
                <a:sym typeface="Bookman Old Style"/>
              </a:rPr>
              <a:t>Compare and contrast basic devices and advanced devices.</a:t>
            </a:r>
            <a:endParaRPr sz="1700">
              <a:solidFill>
                <a:schemeClr val="dk1"/>
              </a:solidFill>
              <a:latin typeface="Bookman Old Style"/>
              <a:ea typeface="Bookman Old Style"/>
              <a:cs typeface="Bookman Old Style"/>
              <a:sym typeface="Bookman Old Style"/>
            </a:endParaRPr>
          </a:p>
          <a:p>
            <a:pPr indent="-328453" lvl="0" marL="457200" rtl="0" algn="l">
              <a:spcBef>
                <a:spcPts val="0"/>
              </a:spcBef>
              <a:spcAft>
                <a:spcPts val="0"/>
              </a:spcAft>
              <a:buClr>
                <a:schemeClr val="dk1"/>
              </a:buClr>
              <a:buSzPct val="100000"/>
              <a:buFont typeface="Bookman Old Style"/>
              <a:buAutoNum type="arabicPeriod"/>
            </a:pPr>
            <a:r>
              <a:rPr lang="en" sz="1700">
                <a:solidFill>
                  <a:schemeClr val="dk1"/>
                </a:solidFill>
                <a:latin typeface="Bookman Old Style"/>
                <a:ea typeface="Bookman Old Style"/>
                <a:cs typeface="Bookman Old Style"/>
                <a:sym typeface="Bookman Old Style"/>
              </a:rPr>
              <a:t>Explain the properties of devices with examples.</a:t>
            </a:r>
            <a:endParaRPr sz="1700">
              <a:solidFill>
                <a:schemeClr val="dk1"/>
              </a:solidFill>
              <a:latin typeface="Bookman Old Style"/>
              <a:ea typeface="Bookman Old Style"/>
              <a:cs typeface="Bookman Old Style"/>
              <a:sym typeface="Bookman Old Style"/>
            </a:endParaRPr>
          </a:p>
          <a:p>
            <a:pPr indent="-328453" lvl="0" marL="457200" rtl="0" algn="l">
              <a:spcBef>
                <a:spcPts val="0"/>
              </a:spcBef>
              <a:spcAft>
                <a:spcPts val="0"/>
              </a:spcAft>
              <a:buClr>
                <a:schemeClr val="dk1"/>
              </a:buClr>
              <a:buSzPct val="100000"/>
              <a:buFont typeface="Bookman Old Style"/>
              <a:buAutoNum type="arabicPeriod"/>
            </a:pPr>
            <a:r>
              <a:rPr lang="en" sz="1700">
                <a:solidFill>
                  <a:schemeClr val="dk1"/>
                </a:solidFill>
                <a:latin typeface="Bookman Old Style"/>
                <a:ea typeface="Bookman Old Style"/>
                <a:cs typeface="Bookman Old Style"/>
                <a:sym typeface="Bookman Old Style"/>
              </a:rPr>
              <a:t>What is Device Management in IoT? Explain its main functions – provisioning, device configuration, software upgrades, and fault management.</a:t>
            </a:r>
            <a:endParaRPr sz="1700">
              <a:solidFill>
                <a:schemeClr val="dk1"/>
              </a:solidFill>
              <a:latin typeface="Bookman Old Style"/>
              <a:ea typeface="Bookman Old Style"/>
              <a:cs typeface="Bookman Old Style"/>
              <a:sym typeface="Bookman Old Style"/>
            </a:endParaRPr>
          </a:p>
          <a:p>
            <a:pPr indent="-328453" lvl="0" marL="457200" rtl="0" algn="l">
              <a:spcBef>
                <a:spcPts val="0"/>
              </a:spcBef>
              <a:spcAft>
                <a:spcPts val="0"/>
              </a:spcAft>
              <a:buClr>
                <a:schemeClr val="dk1"/>
              </a:buClr>
              <a:buSzPct val="100000"/>
              <a:buFont typeface="Bookman Old Style"/>
              <a:buAutoNum type="arabicPeriod"/>
            </a:pPr>
            <a:r>
              <a:rPr lang="en" sz="1700">
                <a:solidFill>
                  <a:schemeClr val="dk1"/>
                </a:solidFill>
                <a:latin typeface="Bookman Old Style"/>
                <a:ea typeface="Bookman Old Style"/>
                <a:cs typeface="Bookman Old Style"/>
                <a:sym typeface="Bookman Old Style"/>
              </a:rPr>
              <a:t>Write a note on LAN and WAN.(5M)</a:t>
            </a:r>
            <a:endParaRPr sz="1700">
              <a:solidFill>
                <a:schemeClr val="dk1"/>
              </a:solidFill>
              <a:latin typeface="Bookman Old Style"/>
              <a:ea typeface="Bookman Old Style"/>
              <a:cs typeface="Bookman Old Style"/>
              <a:sym typeface="Bookman Old Style"/>
            </a:endParaRPr>
          </a:p>
          <a:p>
            <a:pPr indent="-328453" lvl="0" marL="457200" rtl="0" algn="l">
              <a:spcBef>
                <a:spcPts val="0"/>
              </a:spcBef>
              <a:spcAft>
                <a:spcPts val="0"/>
              </a:spcAft>
              <a:buClr>
                <a:schemeClr val="dk1"/>
              </a:buClr>
              <a:buSzPct val="100000"/>
              <a:buFont typeface="Bookman Old Style"/>
              <a:buAutoNum type="arabicPeriod"/>
            </a:pPr>
            <a:r>
              <a:rPr lang="en" sz="1700">
                <a:solidFill>
                  <a:schemeClr val="dk1"/>
                </a:solidFill>
                <a:latin typeface="Bookman Old Style"/>
                <a:ea typeface="Bookman Old Style"/>
                <a:cs typeface="Bookman Old Style"/>
                <a:sym typeface="Bookman Old Style"/>
              </a:rPr>
              <a:t>Define a device in the context of IoT and explain any four of its properties.(5M)</a:t>
            </a:r>
            <a:endParaRPr sz="1700">
              <a:solidFill>
                <a:schemeClr val="dk1"/>
              </a:solidFill>
              <a:latin typeface="Bookman Old Style"/>
              <a:ea typeface="Bookman Old Style"/>
              <a:cs typeface="Bookman Old Style"/>
              <a:sym typeface="Bookman Old Style"/>
            </a:endParaRPr>
          </a:p>
          <a:p>
            <a:pPr indent="-328453" lvl="0" marL="457200" rtl="0" algn="l">
              <a:spcBef>
                <a:spcPts val="0"/>
              </a:spcBef>
              <a:spcAft>
                <a:spcPts val="0"/>
              </a:spcAft>
              <a:buClr>
                <a:schemeClr val="dk1"/>
              </a:buClr>
              <a:buSzPct val="100000"/>
              <a:buFont typeface="Bookman Old Style"/>
              <a:buAutoNum type="arabicPeriod"/>
            </a:pPr>
            <a:r>
              <a:rPr lang="en" sz="1700">
                <a:solidFill>
                  <a:schemeClr val="dk1"/>
                </a:solidFill>
                <a:latin typeface="Bookman Old Style"/>
                <a:ea typeface="Bookman Old Style"/>
                <a:cs typeface="Bookman Old Style"/>
                <a:sym typeface="Bookman Old Style"/>
              </a:rPr>
              <a:t>List and explain the characteristics of basic devices in detail.(5M)</a:t>
            </a:r>
            <a:endParaRPr sz="1700">
              <a:solidFill>
                <a:schemeClr val="dk1"/>
              </a:solidFill>
              <a:latin typeface="Bookman Old Style"/>
              <a:ea typeface="Bookman Old Style"/>
              <a:cs typeface="Bookman Old Style"/>
              <a:sym typeface="Bookman Old Style"/>
            </a:endParaRPr>
          </a:p>
          <a:p>
            <a:pPr indent="0" lvl="0" marL="0" rtl="0" algn="l">
              <a:spcBef>
                <a:spcPts val="0"/>
              </a:spcBef>
              <a:spcAft>
                <a:spcPts val="120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67"/>
          <p:cNvSpPr txBox="1"/>
          <p:nvPr>
            <p:ph idx="1" type="body"/>
          </p:nvPr>
        </p:nvSpPr>
        <p:spPr>
          <a:xfrm>
            <a:off x="311700" y="473175"/>
            <a:ext cx="8520600" cy="4588800"/>
          </a:xfrm>
          <a:prstGeom prst="rect">
            <a:avLst/>
          </a:prstGeom>
        </p:spPr>
        <p:txBody>
          <a:bodyPr anchorCtr="0" anchor="t" bIns="91425" lIns="91425" spcFirstLastPara="1" rIns="91425" wrap="square" tIns="91425">
            <a:normAutofit fontScale="70000" lnSpcReduction="20000"/>
          </a:bodyPr>
          <a:lstStyle/>
          <a:p>
            <a:pPr indent="-315617" lvl="0" marL="457200" rtl="0" algn="l">
              <a:spcBef>
                <a:spcPts val="0"/>
              </a:spcBef>
              <a:spcAft>
                <a:spcPts val="0"/>
              </a:spcAft>
              <a:buClr>
                <a:schemeClr val="dk1"/>
              </a:buClr>
              <a:buSzPct val="100000"/>
              <a:buFont typeface="Bookman Old Style"/>
              <a:buAutoNum type="arabicPeriod"/>
            </a:pPr>
            <a:r>
              <a:rPr lang="en" sz="1957">
                <a:solidFill>
                  <a:schemeClr val="dk1"/>
                </a:solidFill>
                <a:latin typeface="Bookman Old Style"/>
                <a:ea typeface="Bookman Old Style"/>
                <a:cs typeface="Bookman Old Style"/>
                <a:sym typeface="Bookman Old Style"/>
              </a:rPr>
              <a:t>Explain the IoT world forum reference model with a neat diagram.</a:t>
            </a:r>
            <a:endParaRPr sz="1757">
              <a:solidFill>
                <a:schemeClr val="dk1"/>
              </a:solidFill>
            </a:endParaRPr>
          </a:p>
          <a:p>
            <a:pPr indent="-315617" lvl="0" marL="457200" rtl="0" algn="l">
              <a:spcBef>
                <a:spcPts val="0"/>
              </a:spcBef>
              <a:spcAft>
                <a:spcPts val="0"/>
              </a:spcAft>
              <a:buClr>
                <a:schemeClr val="dk1"/>
              </a:buClr>
              <a:buSzPct val="100000"/>
              <a:buFont typeface="Bookman Old Style"/>
              <a:buAutoNum type="arabicPeriod"/>
            </a:pPr>
            <a:r>
              <a:rPr lang="en" sz="1957">
                <a:solidFill>
                  <a:schemeClr val="dk1"/>
                </a:solidFill>
                <a:latin typeface="Bookman Old Style"/>
                <a:ea typeface="Bookman Old Style"/>
                <a:cs typeface="Bookman Old Style"/>
                <a:sym typeface="Bookman Old Style"/>
              </a:rPr>
              <a:t>What are the primary technical design constraints in IoT systems, and how do they impact the development and implementation of these systems?</a:t>
            </a:r>
            <a:endParaRPr sz="1757">
              <a:solidFill>
                <a:schemeClr val="dk1"/>
              </a:solidFill>
            </a:endParaRPr>
          </a:p>
          <a:p>
            <a:pPr indent="-315617" lvl="0" marL="457200" rtl="0" algn="l">
              <a:spcBef>
                <a:spcPts val="0"/>
              </a:spcBef>
              <a:spcAft>
                <a:spcPts val="0"/>
              </a:spcAft>
              <a:buClr>
                <a:schemeClr val="dk1"/>
              </a:buClr>
              <a:buSzPct val="100000"/>
              <a:buFont typeface="Bookman Old Style"/>
              <a:buAutoNum type="arabicPeriod"/>
            </a:pPr>
            <a:r>
              <a:rPr lang="en" sz="1957">
                <a:solidFill>
                  <a:schemeClr val="dk1"/>
                </a:solidFill>
                <a:latin typeface="Bookman Old Style"/>
                <a:ea typeface="Bookman Old Style"/>
                <a:cs typeface="Bookman Old Style"/>
                <a:sym typeface="Bookman Old Style"/>
              </a:rPr>
              <a:t>Explain the communication and service functional group in an IoT functional view with a neat diagram.</a:t>
            </a:r>
            <a:endParaRPr sz="1757">
              <a:solidFill>
                <a:schemeClr val="dk1"/>
              </a:solidFill>
            </a:endParaRPr>
          </a:p>
          <a:p>
            <a:pPr indent="-315617" lvl="0" marL="457200" rtl="0" algn="l">
              <a:spcBef>
                <a:spcPts val="0"/>
              </a:spcBef>
              <a:spcAft>
                <a:spcPts val="0"/>
              </a:spcAft>
              <a:buClr>
                <a:schemeClr val="dk1"/>
              </a:buClr>
              <a:buSzPct val="100000"/>
              <a:buFont typeface="Bookman Old Style"/>
              <a:buAutoNum type="arabicPeriod"/>
            </a:pPr>
            <a:r>
              <a:rPr lang="en" sz="1957">
                <a:solidFill>
                  <a:schemeClr val="dk1"/>
                </a:solidFill>
                <a:latin typeface="Bookman Old Style"/>
                <a:ea typeface="Bookman Old Style"/>
                <a:cs typeface="Bookman Old Style"/>
                <a:sym typeface="Bookman Old Style"/>
              </a:rPr>
              <a:t>Write a note on i) Process management functional group ii) Service organization functional group.</a:t>
            </a:r>
            <a:endParaRPr sz="1757">
              <a:solidFill>
                <a:schemeClr val="dk1"/>
              </a:solidFill>
            </a:endParaRPr>
          </a:p>
          <a:p>
            <a:pPr indent="-315617" lvl="0" marL="457200" rtl="0" algn="l">
              <a:spcBef>
                <a:spcPts val="0"/>
              </a:spcBef>
              <a:spcAft>
                <a:spcPts val="0"/>
              </a:spcAft>
              <a:buClr>
                <a:schemeClr val="dk1"/>
              </a:buClr>
              <a:buSzPct val="100000"/>
              <a:buFont typeface="Bookman Old Style"/>
              <a:buAutoNum type="arabicPeriod"/>
            </a:pPr>
            <a:r>
              <a:rPr lang="en" sz="1957">
                <a:solidFill>
                  <a:schemeClr val="dk1"/>
                </a:solidFill>
                <a:latin typeface="Bookman Old Style"/>
                <a:ea typeface="Bookman Old Style"/>
                <a:cs typeface="Bookman Old Style"/>
                <a:sym typeface="Bookman Old Style"/>
              </a:rPr>
              <a:t>Explain the components of IoT information view with suitable examples.</a:t>
            </a:r>
            <a:endParaRPr sz="1757">
              <a:solidFill>
                <a:schemeClr val="dk1"/>
              </a:solidFill>
            </a:endParaRPr>
          </a:p>
          <a:p>
            <a:pPr indent="-315617" lvl="0" marL="457200" rtl="0" algn="l">
              <a:spcBef>
                <a:spcPts val="0"/>
              </a:spcBef>
              <a:spcAft>
                <a:spcPts val="0"/>
              </a:spcAft>
              <a:buClr>
                <a:schemeClr val="dk1"/>
              </a:buClr>
              <a:buSzPct val="100000"/>
              <a:buFont typeface="Bookman Old Style"/>
              <a:buAutoNum type="arabicPeriod"/>
            </a:pPr>
            <a:r>
              <a:rPr lang="en" sz="1957">
                <a:solidFill>
                  <a:schemeClr val="dk1"/>
                </a:solidFill>
                <a:latin typeface="Bookman Old Style"/>
                <a:ea typeface="Bookman Old Style"/>
                <a:cs typeface="Bookman Old Style"/>
                <a:sym typeface="Bookman Old Style"/>
              </a:rPr>
              <a:t>Describe how Power BI works and briefly explain its key components.</a:t>
            </a:r>
            <a:endParaRPr sz="1757">
              <a:solidFill>
                <a:schemeClr val="dk1"/>
              </a:solidFill>
            </a:endParaRPr>
          </a:p>
          <a:p>
            <a:pPr indent="-315617" lvl="0" marL="457200" rtl="0" algn="l">
              <a:spcBef>
                <a:spcPts val="0"/>
              </a:spcBef>
              <a:spcAft>
                <a:spcPts val="0"/>
              </a:spcAft>
              <a:buClr>
                <a:schemeClr val="dk1"/>
              </a:buClr>
              <a:buSzPct val="100000"/>
              <a:buFont typeface="Bookman Old Style"/>
              <a:buAutoNum type="arabicPeriod"/>
            </a:pPr>
            <a:r>
              <a:rPr lang="en" sz="1957">
                <a:solidFill>
                  <a:schemeClr val="dk1"/>
                </a:solidFill>
                <a:latin typeface="Bookman Old Style"/>
                <a:ea typeface="Bookman Old Style"/>
                <a:cs typeface="Bookman Old Style"/>
                <a:sym typeface="Bookman Old Style"/>
              </a:rPr>
              <a:t>Describe the different IoT information handling mechanisms in detail.</a:t>
            </a:r>
            <a:endParaRPr sz="1957">
              <a:solidFill>
                <a:schemeClr val="dk1"/>
              </a:solidFill>
              <a:latin typeface="Bookman Old Style"/>
              <a:ea typeface="Bookman Old Style"/>
              <a:cs typeface="Bookman Old Style"/>
              <a:sym typeface="Bookman Old Style"/>
            </a:endParaRPr>
          </a:p>
          <a:p>
            <a:pPr indent="-315617" lvl="0" marL="457200" rtl="0" algn="l">
              <a:spcBef>
                <a:spcPts val="0"/>
              </a:spcBef>
              <a:spcAft>
                <a:spcPts val="0"/>
              </a:spcAft>
              <a:buClr>
                <a:schemeClr val="dk1"/>
              </a:buClr>
              <a:buSzPct val="100000"/>
              <a:buFont typeface="Bookman Old Style"/>
              <a:buAutoNum type="arabicPeriod"/>
            </a:pPr>
            <a:r>
              <a:rPr lang="en" sz="1957">
                <a:solidFill>
                  <a:schemeClr val="dk1"/>
                </a:solidFill>
                <a:latin typeface="Bookman Old Style"/>
                <a:ea typeface="Bookman Old Style"/>
                <a:cs typeface="Bookman Old Style"/>
                <a:sym typeface="Bookman Old Style"/>
              </a:rPr>
              <a:t>Explain the functional view with a neat diagram.</a:t>
            </a:r>
            <a:endParaRPr sz="1757">
              <a:solidFill>
                <a:schemeClr val="dk1"/>
              </a:solidFill>
            </a:endParaRPr>
          </a:p>
          <a:p>
            <a:pPr indent="-315617" lvl="0" marL="457200" rtl="0" algn="l">
              <a:spcBef>
                <a:spcPts val="0"/>
              </a:spcBef>
              <a:spcAft>
                <a:spcPts val="0"/>
              </a:spcAft>
              <a:buClr>
                <a:schemeClr val="dk1"/>
              </a:buClr>
              <a:buSzPct val="100000"/>
              <a:buFont typeface="Bookman Old Style"/>
              <a:buAutoNum type="arabicPeriod"/>
            </a:pPr>
            <a:r>
              <a:rPr lang="en" sz="1957">
                <a:solidFill>
                  <a:schemeClr val="dk1"/>
                </a:solidFill>
                <a:latin typeface="Bookman Old Style"/>
                <a:ea typeface="Bookman Old Style"/>
                <a:cs typeface="Bookman Old Style"/>
                <a:sym typeface="Bookman Old Style"/>
              </a:rPr>
              <a:t>Explain the Information View in IoT. Discuss the types of information handled in an IoT system and the ways this information is processed and managed.</a:t>
            </a:r>
            <a:endParaRPr sz="1757">
              <a:solidFill>
                <a:schemeClr val="dk1"/>
              </a:solidFill>
            </a:endParaRPr>
          </a:p>
          <a:p>
            <a:pPr indent="-315617" lvl="0" marL="457200" rtl="0" algn="l">
              <a:spcBef>
                <a:spcPts val="0"/>
              </a:spcBef>
              <a:spcAft>
                <a:spcPts val="0"/>
              </a:spcAft>
              <a:buClr>
                <a:schemeClr val="dk1"/>
              </a:buClr>
              <a:buSzPct val="100000"/>
              <a:buFont typeface="Bookman Old Style"/>
              <a:buAutoNum type="arabicPeriod"/>
            </a:pPr>
            <a:r>
              <a:rPr lang="en" sz="1957">
                <a:solidFill>
                  <a:schemeClr val="dk1"/>
                </a:solidFill>
                <a:latin typeface="Bookman Old Style"/>
                <a:ea typeface="Bookman Old Style"/>
                <a:cs typeface="Bookman Old Style"/>
                <a:sym typeface="Bookman Old Style"/>
              </a:rPr>
              <a:t>Compare and contrast the Subscribe/Notify model with the Publish/Subscribe model in Information View. (5M)</a:t>
            </a:r>
            <a:endParaRPr sz="1757">
              <a:solidFill>
                <a:schemeClr val="dk1"/>
              </a:solidFill>
            </a:endParaRPr>
          </a:p>
          <a:p>
            <a:pPr indent="-315617" lvl="0" marL="457200" rtl="0" algn="l">
              <a:spcBef>
                <a:spcPts val="0"/>
              </a:spcBef>
              <a:spcAft>
                <a:spcPts val="0"/>
              </a:spcAft>
              <a:buClr>
                <a:schemeClr val="dk1"/>
              </a:buClr>
              <a:buSzPct val="100000"/>
              <a:buFont typeface="Bookman Old Style"/>
              <a:buAutoNum type="arabicPeriod"/>
            </a:pPr>
            <a:r>
              <a:rPr lang="en" sz="1957">
                <a:solidFill>
                  <a:schemeClr val="dk1"/>
                </a:solidFill>
                <a:latin typeface="Bookman Old Style"/>
                <a:ea typeface="Bookman Old Style"/>
                <a:cs typeface="Bookman Old Style"/>
                <a:sym typeface="Bookman Old Style"/>
              </a:rPr>
              <a:t>Explain the following in detail: </a:t>
            </a:r>
            <a:endParaRPr sz="1957">
              <a:solidFill>
                <a:schemeClr val="dk1"/>
              </a:solidFill>
              <a:latin typeface="Bookman Old Style"/>
              <a:ea typeface="Bookman Old Style"/>
              <a:cs typeface="Bookman Old Style"/>
              <a:sym typeface="Bookman Old Style"/>
            </a:endParaRPr>
          </a:p>
          <a:p>
            <a:pPr indent="0" lvl="0" marL="457200" rtl="0" algn="l">
              <a:spcBef>
                <a:spcPts val="0"/>
              </a:spcBef>
              <a:spcAft>
                <a:spcPts val="0"/>
              </a:spcAft>
              <a:buNone/>
            </a:pPr>
            <a:r>
              <a:rPr lang="en" sz="1957">
                <a:solidFill>
                  <a:schemeClr val="dk1"/>
                </a:solidFill>
                <a:latin typeface="Bookman Old Style"/>
                <a:ea typeface="Bookman Old Style"/>
                <a:cs typeface="Bookman Old Style"/>
                <a:sym typeface="Bookman Old Style"/>
              </a:rPr>
              <a:t>i) IoT service FG </a:t>
            </a:r>
            <a:endParaRPr sz="1957">
              <a:solidFill>
                <a:schemeClr val="dk1"/>
              </a:solidFill>
              <a:latin typeface="Bookman Old Style"/>
              <a:ea typeface="Bookman Old Style"/>
              <a:cs typeface="Bookman Old Style"/>
              <a:sym typeface="Bookman Old Style"/>
            </a:endParaRPr>
          </a:p>
          <a:p>
            <a:pPr indent="0" lvl="0" marL="457200" rtl="0" algn="l">
              <a:spcBef>
                <a:spcPts val="0"/>
              </a:spcBef>
              <a:spcAft>
                <a:spcPts val="0"/>
              </a:spcAft>
              <a:buNone/>
            </a:pPr>
            <a:r>
              <a:rPr lang="en" sz="1957">
                <a:solidFill>
                  <a:schemeClr val="dk1"/>
                </a:solidFill>
                <a:latin typeface="Bookman Old Style"/>
                <a:ea typeface="Bookman Old Style"/>
                <a:cs typeface="Bookman Old Style"/>
                <a:sym typeface="Bookman Old Style"/>
              </a:rPr>
              <a:t>ii) Virtual entity FG </a:t>
            </a:r>
            <a:endParaRPr sz="1957">
              <a:solidFill>
                <a:schemeClr val="dk1"/>
              </a:solidFill>
              <a:latin typeface="Bookman Old Style"/>
              <a:ea typeface="Bookman Old Style"/>
              <a:cs typeface="Bookman Old Style"/>
              <a:sym typeface="Bookman Old Style"/>
            </a:endParaRPr>
          </a:p>
          <a:p>
            <a:pPr indent="0" lvl="0" marL="457200" rtl="0" algn="l">
              <a:spcBef>
                <a:spcPts val="0"/>
              </a:spcBef>
              <a:spcAft>
                <a:spcPts val="0"/>
              </a:spcAft>
              <a:buNone/>
            </a:pPr>
            <a:r>
              <a:rPr lang="en" sz="1957">
                <a:solidFill>
                  <a:schemeClr val="dk1"/>
                </a:solidFill>
                <a:latin typeface="Bookman Old Style"/>
                <a:ea typeface="Bookman Old Style"/>
                <a:cs typeface="Bookman Old Style"/>
                <a:sym typeface="Bookman Old Style"/>
              </a:rPr>
              <a:t>iii) Process Management FG </a:t>
            </a:r>
            <a:endParaRPr sz="1957">
              <a:solidFill>
                <a:schemeClr val="dk1"/>
              </a:solidFill>
              <a:latin typeface="Bookman Old Style"/>
              <a:ea typeface="Bookman Old Style"/>
              <a:cs typeface="Bookman Old Style"/>
              <a:sym typeface="Bookman Old Style"/>
            </a:endParaRPr>
          </a:p>
          <a:p>
            <a:pPr indent="0" lvl="0" marL="457200" rtl="0" algn="l">
              <a:spcBef>
                <a:spcPts val="0"/>
              </a:spcBef>
              <a:spcAft>
                <a:spcPts val="0"/>
              </a:spcAft>
              <a:buNone/>
            </a:pPr>
            <a:r>
              <a:rPr lang="en" sz="1957">
                <a:solidFill>
                  <a:schemeClr val="dk1"/>
                </a:solidFill>
                <a:latin typeface="Bookman Old Style"/>
                <a:ea typeface="Bookman Old Style"/>
                <a:cs typeface="Bookman Old Style"/>
                <a:sym typeface="Bookman Old Style"/>
              </a:rPr>
              <a:t>iv) Security FG </a:t>
            </a:r>
            <a:endParaRPr sz="1957">
              <a:solidFill>
                <a:schemeClr val="dk1"/>
              </a:solidFill>
              <a:latin typeface="Bookman Old Style"/>
              <a:ea typeface="Bookman Old Style"/>
              <a:cs typeface="Bookman Old Style"/>
              <a:sym typeface="Bookman Old Style"/>
            </a:endParaRPr>
          </a:p>
          <a:p>
            <a:pPr indent="0" lvl="0" marL="457200" rtl="0" algn="l">
              <a:spcBef>
                <a:spcPts val="0"/>
              </a:spcBef>
              <a:spcAft>
                <a:spcPts val="0"/>
              </a:spcAft>
              <a:buNone/>
            </a:pPr>
            <a:r>
              <a:rPr lang="en" sz="1957">
                <a:solidFill>
                  <a:schemeClr val="dk1"/>
                </a:solidFill>
                <a:latin typeface="Bookman Old Style"/>
                <a:ea typeface="Bookman Old Style"/>
                <a:cs typeface="Bookman Old Style"/>
                <a:sym typeface="Bookman Old Style"/>
              </a:rPr>
              <a:t>v) Management FG</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